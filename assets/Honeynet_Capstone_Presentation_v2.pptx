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AA"/>
          </a:solidFill>
          <a:ln/>
        </p:spPr>
      </p:sp>
      <p:pic>
        <p:nvPicPr>
          <p:cNvPr id="3" name="Image 0" descr="preencoded.png"/>
          <p:cNvPicPr>
            <a:picLocks noChangeAspect="1"/>
          </p:cNvPicPr>
          <p:nvPr/>
        </p:nvPicPr>
        <p:blipFill>
          <a:blip r:embed="rId1"/>
          <a:stretch>
            <a:fillRect/>
          </a:stretch>
        </p:blipFill>
        <p:spPr>
          <a:xfrm>
            <a:off x="4114800" y="548640"/>
            <a:ext cx="914400" cy="914400"/>
          </a:xfrm>
          <a:prstGeom prst="rect">
            <a:avLst/>
          </a:prstGeom>
        </p:spPr>
      </p:pic>
      <p:sp>
        <p:nvSpPr>
          <p:cNvPr id="4" name="Text 1"/>
          <p:cNvSpPr/>
          <p:nvPr/>
        </p:nvSpPr>
        <p:spPr>
          <a:xfrm>
            <a:off x="457200" y="1463040"/>
            <a:ext cx="8229600" cy="640080"/>
          </a:xfrm>
          <a:prstGeom prst="rect">
            <a:avLst/>
          </a:prstGeom>
          <a:noFill/>
          <a:ln/>
        </p:spPr>
        <p:txBody>
          <a:bodyPr wrap="square" rtlCol="0" anchor="ctr"/>
          <a:lstStyle/>
          <a:p>
            <a:pPr algn="ctr" indent="0" marL="0">
              <a:buNone/>
            </a:pPr>
            <a:r>
              <a:rPr lang="en-US" sz="4000" b="1" spc="300" kern="0" dirty="0">
                <a:solidFill>
                  <a:srgbClr val="FFFFFF"/>
                </a:solidFill>
                <a:latin typeface="Trebuchet MS" pitchFamily="34" charset="0"/>
                <a:ea typeface="Trebuchet MS" pitchFamily="34" charset="-122"/>
                <a:cs typeface="Trebuchet MS" pitchFamily="34" charset="-120"/>
              </a:rPr>
              <a:t>HONEYNET CAPSTONE</a:t>
            </a:r>
            <a:endParaRPr lang="en-US" sz="4000" dirty="0"/>
          </a:p>
        </p:txBody>
      </p:sp>
      <p:sp>
        <p:nvSpPr>
          <p:cNvPr id="5" name="Text 2"/>
          <p:cNvSpPr/>
          <p:nvPr/>
        </p:nvSpPr>
        <p:spPr>
          <a:xfrm>
            <a:off x="457200" y="2011680"/>
            <a:ext cx="8229600" cy="548640"/>
          </a:xfrm>
          <a:prstGeom prst="rect">
            <a:avLst/>
          </a:prstGeom>
          <a:noFill/>
          <a:ln/>
        </p:spPr>
        <p:txBody>
          <a:bodyPr wrap="square" rtlCol="0" anchor="ctr"/>
          <a:lstStyle/>
          <a:p>
            <a:pPr algn="ctr" indent="0" marL="0">
              <a:buNone/>
            </a:pPr>
            <a:r>
              <a:rPr lang="en-US" sz="4000" b="1" spc="300" kern="0" dirty="0">
                <a:solidFill>
                  <a:srgbClr val="FFFFFF"/>
                </a:solidFill>
                <a:latin typeface="Trebuchet MS" pitchFamily="34" charset="0"/>
                <a:ea typeface="Trebuchet MS" pitchFamily="34" charset="-122"/>
                <a:cs typeface="Trebuchet MS" pitchFamily="34" charset="-120"/>
              </a:rPr>
              <a:t>PROJECT</a:t>
            </a:r>
            <a:endParaRPr lang="en-US" sz="4000" dirty="0"/>
          </a:p>
        </p:txBody>
      </p:sp>
      <p:sp>
        <p:nvSpPr>
          <p:cNvPr id="6" name="Text 3"/>
          <p:cNvSpPr/>
          <p:nvPr/>
        </p:nvSpPr>
        <p:spPr>
          <a:xfrm>
            <a:off x="457200" y="2606040"/>
            <a:ext cx="8229600" cy="411480"/>
          </a:xfrm>
          <a:prstGeom prst="rect">
            <a:avLst/>
          </a:prstGeom>
          <a:noFill/>
          <a:ln/>
        </p:spPr>
        <p:txBody>
          <a:bodyPr wrap="square" rtlCol="0" anchor="ctr"/>
          <a:lstStyle/>
          <a:p>
            <a:pPr algn="ctr" indent="0" marL="0">
              <a:buNone/>
            </a:pPr>
            <a:r>
              <a:rPr lang="en-US" sz="2200" dirty="0">
                <a:solidFill>
                  <a:srgbClr val="00D4AA"/>
                </a:solidFill>
                <a:latin typeface="Calibri" pitchFamily="34" charset="0"/>
                <a:ea typeface="Calibri" pitchFamily="34" charset="-122"/>
                <a:cs typeface="Calibri" pitchFamily="34" charset="-120"/>
              </a:rPr>
              <a:t>agricultureintech.net</a:t>
            </a:r>
            <a:endParaRPr lang="en-US" sz="2200" dirty="0"/>
          </a:p>
        </p:txBody>
      </p:sp>
      <p:sp>
        <p:nvSpPr>
          <p:cNvPr id="7" name="Shape 4"/>
          <p:cNvSpPr/>
          <p:nvPr/>
        </p:nvSpPr>
        <p:spPr>
          <a:xfrm>
            <a:off x="3200400" y="3154680"/>
            <a:ext cx="2743200" cy="18288"/>
          </a:xfrm>
          <a:prstGeom prst="rect">
            <a:avLst/>
          </a:prstGeom>
          <a:solidFill>
            <a:srgbClr val="00D4AA">
              <a:alpha val="50000"/>
            </a:srgbClr>
          </a:solidFill>
          <a:ln/>
        </p:spPr>
      </p:sp>
      <p:sp>
        <p:nvSpPr>
          <p:cNvPr id="8" name="Text 5"/>
          <p:cNvSpPr/>
          <p:nvPr/>
        </p:nvSpPr>
        <p:spPr>
          <a:xfrm>
            <a:off x="914400" y="3337560"/>
            <a:ext cx="7315200" cy="457200"/>
          </a:xfrm>
          <a:prstGeom prst="rect">
            <a:avLst/>
          </a:prstGeom>
          <a:noFill/>
          <a:ln/>
        </p:spPr>
        <p:txBody>
          <a:bodyPr wrap="square" rtlCol="0" anchor="ctr"/>
          <a:lstStyle/>
          <a:p>
            <a:pPr algn="ctr" indent="0" marL="0">
              <a:buNone/>
            </a:pPr>
            <a:r>
              <a:rPr lang="en-US" sz="1400" i="1" dirty="0">
                <a:solidFill>
                  <a:srgbClr val="C8D6E5"/>
                </a:solidFill>
                <a:latin typeface="Calibri" pitchFamily="34" charset="0"/>
                <a:ea typeface="Calibri" pitchFamily="34" charset="-122"/>
                <a:cs typeface="Calibri" pitchFamily="34" charset="-120"/>
              </a:rPr>
              <a:t>Deploying, Monitoring &amp; Analyzing Real-World Threats in a Live Honeynet</a:t>
            </a:r>
            <a:endParaRPr lang="en-US" sz="1400" dirty="0"/>
          </a:p>
        </p:txBody>
      </p:sp>
      <p:sp>
        <p:nvSpPr>
          <p:cNvPr id="9" name="Text 6"/>
          <p:cNvSpPr/>
          <p:nvPr/>
        </p:nvSpPr>
        <p:spPr>
          <a:xfrm>
            <a:off x="914400" y="3977640"/>
            <a:ext cx="7315200" cy="365760"/>
          </a:xfrm>
          <a:prstGeom prst="rect">
            <a:avLst/>
          </a:prstGeom>
          <a:noFill/>
          <a:ln/>
        </p:spPr>
        <p:txBody>
          <a:bodyPr wrap="square" rtlCol="0" anchor="ctr"/>
          <a:lstStyle/>
          <a:p>
            <a:pPr algn="ctr" indent="0" marL="0">
              <a:buNone/>
            </a:pPr>
            <a:r>
              <a:rPr lang="en-US" sz="1300" dirty="0">
                <a:solidFill>
                  <a:srgbClr val="6B7B8D"/>
                </a:solidFill>
                <a:latin typeface="Calibri" pitchFamily="34" charset="0"/>
                <a:ea typeface="Calibri" pitchFamily="34" charset="-122"/>
                <a:cs typeface="Calibri" pitchFamily="34" charset="-120"/>
              </a:rPr>
              <a:t>Pima Community College  |  Cybersecurity Capstone</a:t>
            </a:r>
            <a:endParaRPr lang="en-US" sz="1300" dirty="0"/>
          </a:p>
        </p:txBody>
      </p:sp>
      <p:sp>
        <p:nvSpPr>
          <p:cNvPr id="10" name="Shape 7"/>
          <p:cNvSpPr/>
          <p:nvPr/>
        </p:nvSpPr>
        <p:spPr>
          <a:xfrm>
            <a:off x="0" y="5106924"/>
            <a:ext cx="9144000" cy="36576"/>
          </a:xfrm>
          <a:prstGeom prst="rect">
            <a:avLst/>
          </a:prstGeom>
          <a:solidFill>
            <a:srgbClr val="00D4AA"/>
          </a:solidFill>
          <a:ln/>
        </p:spPr>
      </p:sp>
      <p:sp>
        <p:nvSpPr>
          <p:cNvPr id="11" name="Text 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WHAT WE'LL COVER</a:t>
            </a:r>
            <a:endParaRPr lang="en-US" sz="3200" dirty="0"/>
          </a:p>
        </p:txBody>
      </p:sp>
      <p:sp>
        <p:nvSpPr>
          <p:cNvPr id="3" name="Shape 1"/>
          <p:cNvSpPr/>
          <p:nvPr/>
        </p:nvSpPr>
        <p:spPr>
          <a:xfrm>
            <a:off x="640080" y="1143000"/>
            <a:ext cx="365760" cy="365760"/>
          </a:xfrm>
          <a:prstGeom prst="ellipse">
            <a:avLst/>
          </a:prstGeom>
          <a:solidFill>
            <a:srgbClr val="162236"/>
          </a:solidFill>
          <a:ln/>
        </p:spPr>
      </p:sp>
      <p:pic>
        <p:nvPicPr>
          <p:cNvPr id="4" name="Image 0" descr="preencoded.png"/>
          <p:cNvPicPr>
            <a:picLocks noChangeAspect="1"/>
          </p:cNvPicPr>
          <p:nvPr/>
        </p:nvPicPr>
        <p:blipFill>
          <a:blip r:embed="rId1"/>
          <a:stretch>
            <a:fillRect/>
          </a:stretch>
        </p:blipFill>
        <p:spPr>
          <a:xfrm>
            <a:off x="713232" y="1216152"/>
            <a:ext cx="219456" cy="219456"/>
          </a:xfrm>
          <a:prstGeom prst="rect">
            <a:avLst/>
          </a:prstGeom>
        </p:spPr>
      </p:pic>
      <p:sp>
        <p:nvSpPr>
          <p:cNvPr id="5" name="Text 2"/>
          <p:cNvSpPr/>
          <p:nvPr/>
        </p:nvSpPr>
        <p:spPr>
          <a:xfrm>
            <a:off x="1188720" y="109728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Infrastructure &amp; Architecture</a:t>
            </a:r>
            <a:endParaRPr lang="en-US" sz="1600" dirty="0"/>
          </a:p>
        </p:txBody>
      </p:sp>
      <p:sp>
        <p:nvSpPr>
          <p:cNvPr id="6" name="Text 3"/>
          <p:cNvSpPr/>
          <p:nvPr/>
        </p:nvSpPr>
        <p:spPr>
          <a:xfrm>
            <a:off x="1188720" y="135331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How we built the honeynet from scratch</a:t>
            </a:r>
            <a:endParaRPr lang="en-US" sz="1200" dirty="0"/>
          </a:p>
        </p:txBody>
      </p:sp>
      <p:sp>
        <p:nvSpPr>
          <p:cNvPr id="7" name="Shape 4"/>
          <p:cNvSpPr/>
          <p:nvPr/>
        </p:nvSpPr>
        <p:spPr>
          <a:xfrm>
            <a:off x="640080" y="1783080"/>
            <a:ext cx="365760" cy="365760"/>
          </a:xfrm>
          <a:prstGeom prst="ellipse">
            <a:avLst/>
          </a:prstGeom>
          <a:solidFill>
            <a:srgbClr val="162236"/>
          </a:solidFill>
          <a:ln/>
        </p:spPr>
      </p:sp>
      <p:pic>
        <p:nvPicPr>
          <p:cNvPr id="8" name="Image 1" descr="preencoded.png"/>
          <p:cNvPicPr>
            <a:picLocks noChangeAspect="1"/>
          </p:cNvPicPr>
          <p:nvPr/>
        </p:nvPicPr>
        <p:blipFill>
          <a:blip r:embed="rId2"/>
          <a:stretch>
            <a:fillRect/>
          </a:stretch>
        </p:blipFill>
        <p:spPr>
          <a:xfrm>
            <a:off x="713232" y="1856232"/>
            <a:ext cx="219456" cy="219456"/>
          </a:xfrm>
          <a:prstGeom prst="rect">
            <a:avLst/>
          </a:prstGeom>
        </p:spPr>
      </p:pic>
      <p:sp>
        <p:nvSpPr>
          <p:cNvPr id="9" name="Text 5"/>
          <p:cNvSpPr/>
          <p:nvPr/>
        </p:nvSpPr>
        <p:spPr>
          <a:xfrm>
            <a:off x="1188720" y="173736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Network Monitoring Pipeline</a:t>
            </a:r>
            <a:endParaRPr lang="en-US" sz="1600" dirty="0"/>
          </a:p>
        </p:txBody>
      </p:sp>
      <p:sp>
        <p:nvSpPr>
          <p:cNvPr id="10" name="Text 6"/>
          <p:cNvSpPr/>
          <p:nvPr/>
        </p:nvSpPr>
        <p:spPr>
          <a:xfrm>
            <a:off x="1188720" y="199339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Full-packet capture with Security Onion, Suricata, Zeek &amp; Arkime</a:t>
            </a:r>
            <a:endParaRPr lang="en-US" sz="1200" dirty="0"/>
          </a:p>
        </p:txBody>
      </p:sp>
      <p:sp>
        <p:nvSpPr>
          <p:cNvPr id="11" name="Shape 7"/>
          <p:cNvSpPr/>
          <p:nvPr/>
        </p:nvSpPr>
        <p:spPr>
          <a:xfrm>
            <a:off x="640080" y="2423160"/>
            <a:ext cx="365760" cy="365760"/>
          </a:xfrm>
          <a:prstGeom prst="ellipse">
            <a:avLst/>
          </a:prstGeom>
          <a:solidFill>
            <a:srgbClr val="162236"/>
          </a:solidFill>
          <a:ln/>
        </p:spPr>
      </p:sp>
      <p:pic>
        <p:nvPicPr>
          <p:cNvPr id="12" name="Image 2" descr="preencoded.png"/>
          <p:cNvPicPr>
            <a:picLocks noChangeAspect="1"/>
          </p:cNvPicPr>
          <p:nvPr/>
        </p:nvPicPr>
        <p:blipFill>
          <a:blip r:embed="rId3"/>
          <a:stretch>
            <a:fillRect/>
          </a:stretch>
        </p:blipFill>
        <p:spPr>
          <a:xfrm>
            <a:off x="713232" y="2496312"/>
            <a:ext cx="219456" cy="219456"/>
          </a:xfrm>
          <a:prstGeom prst="rect">
            <a:avLst/>
          </a:prstGeom>
        </p:spPr>
      </p:pic>
      <p:sp>
        <p:nvSpPr>
          <p:cNvPr id="13" name="Text 8"/>
          <p:cNvSpPr/>
          <p:nvPr/>
        </p:nvSpPr>
        <p:spPr>
          <a:xfrm>
            <a:off x="1188720" y="237744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Malware Infections</a:t>
            </a:r>
            <a:endParaRPr lang="en-US" sz="1600" dirty="0"/>
          </a:p>
        </p:txBody>
      </p:sp>
      <p:sp>
        <p:nvSpPr>
          <p:cNvPr id="14" name="Text 9"/>
          <p:cNvSpPr/>
          <p:nvPr/>
        </p:nvSpPr>
        <p:spPr>
          <a:xfrm>
            <a:off x="1188720" y="263347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Kinsing + RondoDox — a Loader-as-a-Service delivery chain</a:t>
            </a:r>
            <a:endParaRPr lang="en-US" sz="1200" dirty="0"/>
          </a:p>
        </p:txBody>
      </p:sp>
      <p:sp>
        <p:nvSpPr>
          <p:cNvPr id="15" name="Shape 10"/>
          <p:cNvSpPr/>
          <p:nvPr/>
        </p:nvSpPr>
        <p:spPr>
          <a:xfrm>
            <a:off x="640080" y="3063240"/>
            <a:ext cx="365760" cy="365760"/>
          </a:xfrm>
          <a:prstGeom prst="ellipse">
            <a:avLst/>
          </a:prstGeom>
          <a:solidFill>
            <a:srgbClr val="162236"/>
          </a:solidFill>
          <a:ln/>
        </p:spPr>
      </p:sp>
      <p:pic>
        <p:nvPicPr>
          <p:cNvPr id="16" name="Image 3" descr="preencoded.png"/>
          <p:cNvPicPr>
            <a:picLocks noChangeAspect="1"/>
          </p:cNvPicPr>
          <p:nvPr/>
        </p:nvPicPr>
        <p:blipFill>
          <a:blip r:embed="rId4"/>
          <a:stretch>
            <a:fillRect/>
          </a:stretch>
        </p:blipFill>
        <p:spPr>
          <a:xfrm>
            <a:off x="713232" y="3136392"/>
            <a:ext cx="219456" cy="219456"/>
          </a:xfrm>
          <a:prstGeom prst="rect">
            <a:avLst/>
          </a:prstGeom>
        </p:spPr>
      </p:pic>
      <p:sp>
        <p:nvSpPr>
          <p:cNvPr id="17" name="Text 11"/>
          <p:cNvSpPr/>
          <p:nvPr/>
        </p:nvSpPr>
        <p:spPr>
          <a:xfrm>
            <a:off x="1188720" y="301752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Data at Scale</a:t>
            </a:r>
            <a:endParaRPr lang="en-US" sz="1600" dirty="0"/>
          </a:p>
        </p:txBody>
      </p:sp>
      <p:sp>
        <p:nvSpPr>
          <p:cNvPr id="18" name="Text 12"/>
          <p:cNvSpPr/>
          <p:nvPr/>
        </p:nvSpPr>
        <p:spPr>
          <a:xfrm>
            <a:off x="1188720" y="327355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784K+ events, alert triage, and the importance of parsing tools</a:t>
            </a:r>
            <a:endParaRPr lang="en-US" sz="1200" dirty="0"/>
          </a:p>
        </p:txBody>
      </p:sp>
      <p:sp>
        <p:nvSpPr>
          <p:cNvPr id="19" name="Shape 13"/>
          <p:cNvSpPr/>
          <p:nvPr/>
        </p:nvSpPr>
        <p:spPr>
          <a:xfrm>
            <a:off x="640080" y="3703320"/>
            <a:ext cx="365760" cy="365760"/>
          </a:xfrm>
          <a:prstGeom prst="ellipse">
            <a:avLst/>
          </a:prstGeom>
          <a:solidFill>
            <a:srgbClr val="162236"/>
          </a:solidFill>
          <a:ln/>
        </p:spPr>
      </p:sp>
      <p:pic>
        <p:nvPicPr>
          <p:cNvPr id="20" name="Image 4" descr="preencoded.png"/>
          <p:cNvPicPr>
            <a:picLocks noChangeAspect="1"/>
          </p:cNvPicPr>
          <p:nvPr/>
        </p:nvPicPr>
        <p:blipFill>
          <a:blip r:embed="rId5"/>
          <a:stretch>
            <a:fillRect/>
          </a:stretch>
        </p:blipFill>
        <p:spPr>
          <a:xfrm>
            <a:off x="713232" y="3776472"/>
            <a:ext cx="219456" cy="219456"/>
          </a:xfrm>
          <a:prstGeom prst="rect">
            <a:avLst/>
          </a:prstGeom>
        </p:spPr>
      </p:pic>
      <p:sp>
        <p:nvSpPr>
          <p:cNvPr id="21" name="Text 14"/>
          <p:cNvSpPr/>
          <p:nvPr/>
        </p:nvSpPr>
        <p:spPr>
          <a:xfrm>
            <a:off x="1188720" y="365760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Challenges &amp; Lessons</a:t>
            </a:r>
            <a:endParaRPr lang="en-US" sz="1600" dirty="0"/>
          </a:p>
        </p:txBody>
      </p:sp>
      <p:sp>
        <p:nvSpPr>
          <p:cNvPr id="22" name="Text 15"/>
          <p:cNvSpPr/>
          <p:nvPr/>
        </p:nvSpPr>
        <p:spPr>
          <a:xfrm>
            <a:off x="1188720" y="391363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What we learned building this from zero as students</a:t>
            </a:r>
            <a:endParaRPr lang="en-US" sz="1200" dirty="0"/>
          </a:p>
        </p:txBody>
      </p:sp>
      <p:sp>
        <p:nvSpPr>
          <p:cNvPr id="23" name="Shape 16"/>
          <p:cNvSpPr/>
          <p:nvPr/>
        </p:nvSpPr>
        <p:spPr>
          <a:xfrm>
            <a:off x="640080" y="4343400"/>
            <a:ext cx="365760" cy="365760"/>
          </a:xfrm>
          <a:prstGeom prst="ellipse">
            <a:avLst/>
          </a:prstGeom>
          <a:solidFill>
            <a:srgbClr val="162236"/>
          </a:solidFill>
          <a:ln/>
        </p:spPr>
      </p:sp>
      <p:pic>
        <p:nvPicPr>
          <p:cNvPr id="24" name="Image 5" descr="preencoded.png"/>
          <p:cNvPicPr>
            <a:picLocks noChangeAspect="1"/>
          </p:cNvPicPr>
          <p:nvPr/>
        </p:nvPicPr>
        <p:blipFill>
          <a:blip r:embed="rId6"/>
          <a:stretch>
            <a:fillRect/>
          </a:stretch>
        </p:blipFill>
        <p:spPr>
          <a:xfrm>
            <a:off x="713232" y="4416552"/>
            <a:ext cx="219456" cy="219456"/>
          </a:xfrm>
          <a:prstGeom prst="rect">
            <a:avLst/>
          </a:prstGeom>
        </p:spPr>
      </p:pic>
      <p:sp>
        <p:nvSpPr>
          <p:cNvPr id="25" name="Text 17"/>
          <p:cNvSpPr/>
          <p:nvPr/>
        </p:nvSpPr>
        <p:spPr>
          <a:xfrm>
            <a:off x="1188720" y="429768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What's Next</a:t>
            </a:r>
            <a:endParaRPr lang="en-US" sz="1600" dirty="0"/>
          </a:p>
        </p:txBody>
      </p:sp>
      <p:sp>
        <p:nvSpPr>
          <p:cNvPr id="26" name="Text 18"/>
          <p:cNvSpPr/>
          <p:nvPr/>
        </p:nvSpPr>
        <p:spPr>
          <a:xfrm>
            <a:off x="1188720" y="455371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Windows endpoint expansion and future research</a:t>
            </a:r>
            <a:endParaRPr lang="en-US" sz="1200" dirty="0"/>
          </a:p>
        </p:txBody>
      </p:sp>
      <p:sp>
        <p:nvSpPr>
          <p:cNvPr id="27" name="Shape 19"/>
          <p:cNvSpPr/>
          <p:nvPr/>
        </p:nvSpPr>
        <p:spPr>
          <a:xfrm>
            <a:off x="8412480" y="457200"/>
            <a:ext cx="27432" cy="4206240"/>
          </a:xfrm>
          <a:prstGeom prst="rect">
            <a:avLst/>
          </a:prstGeom>
          <a:solidFill>
            <a:srgbClr val="00D4AA">
              <a:alpha val="70000"/>
            </a:srgbClr>
          </a:solidFill>
          <a:ln/>
        </p:spPr>
      </p:sp>
      <p:sp>
        <p:nvSpPr>
          <p:cNvPr id="28" name="Text 20"/>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THE MISSION</a:t>
            </a:r>
            <a:endParaRPr lang="en-US" sz="3200" dirty="0"/>
          </a:p>
        </p:txBody>
      </p:sp>
      <p:sp>
        <p:nvSpPr>
          <p:cNvPr id="3" name="Shape 1"/>
          <p:cNvSpPr/>
          <p:nvPr/>
        </p:nvSpPr>
        <p:spPr>
          <a:xfrm>
            <a:off x="548640" y="1097280"/>
            <a:ext cx="804672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4" name="Shape 2"/>
          <p:cNvSpPr/>
          <p:nvPr/>
        </p:nvSpPr>
        <p:spPr>
          <a:xfrm>
            <a:off x="548640" y="1097280"/>
            <a:ext cx="54864" cy="1280160"/>
          </a:xfrm>
          <a:prstGeom prst="rect">
            <a:avLst/>
          </a:prstGeom>
          <a:solidFill>
            <a:srgbClr val="00D4AA"/>
          </a:solidFill>
          <a:ln/>
        </p:spPr>
      </p:sp>
      <p:sp>
        <p:nvSpPr>
          <p:cNvPr id="5" name="Text 3"/>
          <p:cNvSpPr/>
          <p:nvPr/>
        </p:nvSpPr>
        <p:spPr>
          <a:xfrm>
            <a:off x="822960" y="1188720"/>
            <a:ext cx="7498080" cy="1097280"/>
          </a:xfrm>
          <a:prstGeom prst="rect">
            <a:avLst/>
          </a:prstGeom>
          <a:noFill/>
          <a:ln/>
        </p:spPr>
        <p:txBody>
          <a:bodyPr wrap="square"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Design, deploy, and operate a live honeynet to attract, capture, and analyze real-world malware infections and exploitation attempts.</a:t>
            </a:r>
            <a:endParaRPr lang="en-US" sz="1600" dirty="0"/>
          </a:p>
        </p:txBody>
      </p:sp>
      <p:sp>
        <p:nvSpPr>
          <p:cNvPr id="6" name="Shape 4"/>
          <p:cNvSpPr/>
          <p:nvPr/>
        </p:nvSpPr>
        <p:spPr>
          <a:xfrm>
            <a:off x="7315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7" name="Shape 5"/>
          <p:cNvSpPr/>
          <p:nvPr/>
        </p:nvSpPr>
        <p:spPr>
          <a:xfrm>
            <a:off x="731520" y="2834640"/>
            <a:ext cx="1737360" cy="45720"/>
          </a:xfrm>
          <a:prstGeom prst="rect">
            <a:avLst/>
          </a:prstGeom>
          <a:solidFill>
            <a:srgbClr val="00D4AA"/>
          </a:solidFill>
          <a:ln/>
        </p:spPr>
      </p:sp>
      <p:pic>
        <p:nvPicPr>
          <p:cNvPr id="8" name="Image 0" descr="preencoded.png"/>
          <p:cNvPicPr>
            <a:picLocks noChangeAspect="1"/>
          </p:cNvPicPr>
          <p:nvPr/>
        </p:nvPicPr>
        <p:blipFill>
          <a:blip r:embed="rId1"/>
          <a:stretch>
            <a:fillRect/>
          </a:stretch>
        </p:blipFill>
        <p:spPr>
          <a:xfrm>
            <a:off x="1371600" y="3063240"/>
            <a:ext cx="457200" cy="457200"/>
          </a:xfrm>
          <a:prstGeom prst="rect">
            <a:avLst/>
          </a:prstGeom>
        </p:spPr>
      </p:pic>
      <p:sp>
        <p:nvSpPr>
          <p:cNvPr id="9" name="Text 6"/>
          <p:cNvSpPr/>
          <p:nvPr/>
        </p:nvSpPr>
        <p:spPr>
          <a:xfrm>
            <a:off x="8229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Infrastructure</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Buildout</a:t>
            </a:r>
            <a:endParaRPr lang="en-US" sz="1300" dirty="0"/>
          </a:p>
        </p:txBody>
      </p:sp>
      <p:sp>
        <p:nvSpPr>
          <p:cNvPr id="10" name="Shape 7"/>
          <p:cNvSpPr/>
          <p:nvPr/>
        </p:nvSpPr>
        <p:spPr>
          <a:xfrm>
            <a:off x="27889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1" name="Shape 8"/>
          <p:cNvSpPr/>
          <p:nvPr/>
        </p:nvSpPr>
        <p:spPr>
          <a:xfrm>
            <a:off x="2788920" y="2834640"/>
            <a:ext cx="1737360" cy="45720"/>
          </a:xfrm>
          <a:prstGeom prst="rect">
            <a:avLst/>
          </a:prstGeom>
          <a:solidFill>
            <a:srgbClr val="1E90FF"/>
          </a:solidFill>
          <a:ln/>
        </p:spPr>
      </p:sp>
      <p:pic>
        <p:nvPicPr>
          <p:cNvPr id="12" name="Image 1" descr="preencoded.png"/>
          <p:cNvPicPr>
            <a:picLocks noChangeAspect="1"/>
          </p:cNvPicPr>
          <p:nvPr/>
        </p:nvPicPr>
        <p:blipFill>
          <a:blip r:embed="rId2"/>
          <a:stretch>
            <a:fillRect/>
          </a:stretch>
        </p:blipFill>
        <p:spPr>
          <a:xfrm>
            <a:off x="3429000" y="3063240"/>
            <a:ext cx="457200" cy="457200"/>
          </a:xfrm>
          <a:prstGeom prst="rect">
            <a:avLst/>
          </a:prstGeom>
        </p:spPr>
      </p:pic>
      <p:sp>
        <p:nvSpPr>
          <p:cNvPr id="13" name="Text 9"/>
          <p:cNvSpPr/>
          <p:nvPr/>
        </p:nvSpPr>
        <p:spPr>
          <a:xfrm>
            <a:off x="28803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Network</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Monitoring</a:t>
            </a:r>
            <a:endParaRPr lang="en-US" sz="1300" dirty="0"/>
          </a:p>
        </p:txBody>
      </p:sp>
      <p:sp>
        <p:nvSpPr>
          <p:cNvPr id="14" name="Shape 10"/>
          <p:cNvSpPr/>
          <p:nvPr/>
        </p:nvSpPr>
        <p:spPr>
          <a:xfrm>
            <a:off x="48463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5" name="Shape 11"/>
          <p:cNvSpPr/>
          <p:nvPr/>
        </p:nvSpPr>
        <p:spPr>
          <a:xfrm>
            <a:off x="4846320" y="2834640"/>
            <a:ext cx="1737360" cy="45720"/>
          </a:xfrm>
          <a:prstGeom prst="rect">
            <a:avLst/>
          </a:prstGeom>
          <a:solidFill>
            <a:srgbClr val="FF6B6B"/>
          </a:solidFill>
          <a:ln/>
        </p:spPr>
      </p:sp>
      <p:pic>
        <p:nvPicPr>
          <p:cNvPr id="16" name="Image 2" descr="preencoded.png"/>
          <p:cNvPicPr>
            <a:picLocks noChangeAspect="1"/>
          </p:cNvPicPr>
          <p:nvPr/>
        </p:nvPicPr>
        <p:blipFill>
          <a:blip r:embed="rId3"/>
          <a:stretch>
            <a:fillRect/>
          </a:stretch>
        </p:blipFill>
        <p:spPr>
          <a:xfrm>
            <a:off x="5486400" y="3063240"/>
            <a:ext cx="457200" cy="457200"/>
          </a:xfrm>
          <a:prstGeom prst="rect">
            <a:avLst/>
          </a:prstGeom>
        </p:spPr>
      </p:pic>
      <p:sp>
        <p:nvSpPr>
          <p:cNvPr id="17" name="Text 12"/>
          <p:cNvSpPr/>
          <p:nvPr/>
        </p:nvSpPr>
        <p:spPr>
          <a:xfrm>
            <a:off x="49377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Incident</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Response</a:t>
            </a:r>
            <a:endParaRPr lang="en-US" sz="1300" dirty="0"/>
          </a:p>
        </p:txBody>
      </p:sp>
      <p:sp>
        <p:nvSpPr>
          <p:cNvPr id="18" name="Shape 13"/>
          <p:cNvSpPr/>
          <p:nvPr/>
        </p:nvSpPr>
        <p:spPr>
          <a:xfrm>
            <a:off x="69037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9" name="Shape 14"/>
          <p:cNvSpPr/>
          <p:nvPr/>
        </p:nvSpPr>
        <p:spPr>
          <a:xfrm>
            <a:off x="6903720" y="2834640"/>
            <a:ext cx="1737360" cy="45720"/>
          </a:xfrm>
          <a:prstGeom prst="rect">
            <a:avLst/>
          </a:prstGeom>
          <a:solidFill>
            <a:srgbClr val="00D4AA"/>
          </a:solidFill>
          <a:ln/>
        </p:spPr>
      </p:sp>
      <p:pic>
        <p:nvPicPr>
          <p:cNvPr id="20" name="Image 3" descr="preencoded.png"/>
          <p:cNvPicPr>
            <a:picLocks noChangeAspect="1"/>
          </p:cNvPicPr>
          <p:nvPr/>
        </p:nvPicPr>
        <p:blipFill>
          <a:blip r:embed="rId4"/>
          <a:stretch>
            <a:fillRect/>
          </a:stretch>
        </p:blipFill>
        <p:spPr>
          <a:xfrm>
            <a:off x="7543800" y="3063240"/>
            <a:ext cx="457200" cy="457200"/>
          </a:xfrm>
          <a:prstGeom prst="rect">
            <a:avLst/>
          </a:prstGeom>
        </p:spPr>
      </p:pic>
      <p:sp>
        <p:nvSpPr>
          <p:cNvPr id="21" name="Text 15"/>
          <p:cNvSpPr/>
          <p:nvPr/>
        </p:nvSpPr>
        <p:spPr>
          <a:xfrm>
            <a:off x="69951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Malware</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Analysis</a:t>
            </a:r>
            <a:endParaRPr lang="en-US" sz="1300" dirty="0"/>
          </a:p>
        </p:txBody>
      </p:sp>
      <p:sp>
        <p:nvSpPr>
          <p:cNvPr id="22" name="Text 1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INFRASTRUCTURE</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Physical Network &amp; Datacenter</a:t>
            </a:r>
            <a:endParaRPr lang="en-US" sz="1400" dirty="0"/>
          </a:p>
        </p:txBody>
      </p:sp>
      <p:sp>
        <p:nvSpPr>
          <p:cNvPr id="4" name="Shape 2"/>
          <p:cNvSpPr/>
          <p:nvPr/>
        </p:nvSpPr>
        <p:spPr>
          <a:xfrm>
            <a:off x="45720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5" name="Image 0" descr="preencoded.png"/>
          <p:cNvPicPr>
            <a:picLocks noChangeAspect="1"/>
          </p:cNvPicPr>
          <p:nvPr/>
        </p:nvPicPr>
        <p:blipFill>
          <a:blip r:embed="rId1"/>
          <a:stretch>
            <a:fillRect/>
          </a:stretch>
        </p:blipFill>
        <p:spPr>
          <a:xfrm>
            <a:off x="1051560" y="1508760"/>
            <a:ext cx="457200" cy="457200"/>
          </a:xfrm>
          <a:prstGeom prst="rect">
            <a:avLst/>
          </a:prstGeom>
        </p:spPr>
      </p:pic>
      <p:sp>
        <p:nvSpPr>
          <p:cNvPr id="6" name="Text 3"/>
          <p:cNvSpPr/>
          <p:nvPr/>
        </p:nvSpPr>
        <p:spPr>
          <a:xfrm>
            <a:off x="54864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Internet</a:t>
            </a:r>
            <a:endParaRPr lang="en-US" sz="1200" dirty="0"/>
          </a:p>
        </p:txBody>
      </p:sp>
      <p:pic>
        <p:nvPicPr>
          <p:cNvPr id="7" name="Image 1" descr="preencoded.png"/>
          <p:cNvPicPr>
            <a:picLocks noChangeAspect="1"/>
          </p:cNvPicPr>
          <p:nvPr/>
        </p:nvPicPr>
        <p:blipFill>
          <a:blip r:embed="rId2"/>
          <a:stretch>
            <a:fillRect/>
          </a:stretch>
        </p:blipFill>
        <p:spPr>
          <a:xfrm>
            <a:off x="2194560" y="1783080"/>
            <a:ext cx="320040" cy="320040"/>
          </a:xfrm>
          <a:prstGeom prst="rect">
            <a:avLst/>
          </a:prstGeom>
        </p:spPr>
      </p:pic>
      <p:sp>
        <p:nvSpPr>
          <p:cNvPr id="8" name="Shape 4"/>
          <p:cNvSpPr/>
          <p:nvPr/>
        </p:nvSpPr>
        <p:spPr>
          <a:xfrm>
            <a:off x="265176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9" name="Image 2" descr="preencoded.png"/>
          <p:cNvPicPr>
            <a:picLocks noChangeAspect="1"/>
          </p:cNvPicPr>
          <p:nvPr/>
        </p:nvPicPr>
        <p:blipFill>
          <a:blip r:embed="rId3"/>
          <a:stretch>
            <a:fillRect/>
          </a:stretch>
        </p:blipFill>
        <p:spPr>
          <a:xfrm>
            <a:off x="3246120" y="1508760"/>
            <a:ext cx="457200" cy="457200"/>
          </a:xfrm>
          <a:prstGeom prst="rect">
            <a:avLst/>
          </a:prstGeom>
        </p:spPr>
      </p:pic>
      <p:sp>
        <p:nvSpPr>
          <p:cNvPr id="10" name="Text 5"/>
          <p:cNvSpPr/>
          <p:nvPr/>
        </p:nvSpPr>
        <p:spPr>
          <a:xfrm>
            <a:off x="274320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Palo Alto</a:t>
            </a:r>
            <a:endParaRPr lang="en-US" sz="1200" dirty="0"/>
          </a:p>
          <a:p>
            <a:pPr algn="ctr" indent="0" marL="0">
              <a:buNone/>
            </a:pPr>
            <a:r>
              <a:rPr lang="en-US" sz="1200" b="1" dirty="0">
                <a:solidFill>
                  <a:srgbClr val="C8D6E5"/>
                </a:solidFill>
                <a:latin typeface="Calibri" pitchFamily="34" charset="0"/>
                <a:ea typeface="Calibri" pitchFamily="34" charset="-122"/>
                <a:cs typeface="Calibri" pitchFamily="34" charset="-120"/>
              </a:rPr>
              <a:t>3410</a:t>
            </a:r>
            <a:endParaRPr lang="en-US" sz="1200" dirty="0"/>
          </a:p>
        </p:txBody>
      </p:sp>
      <p:pic>
        <p:nvPicPr>
          <p:cNvPr id="11" name="Image 3" descr="preencoded.png"/>
          <p:cNvPicPr>
            <a:picLocks noChangeAspect="1"/>
          </p:cNvPicPr>
          <p:nvPr/>
        </p:nvPicPr>
        <p:blipFill>
          <a:blip r:embed="rId4"/>
          <a:stretch>
            <a:fillRect/>
          </a:stretch>
        </p:blipFill>
        <p:spPr>
          <a:xfrm>
            <a:off x="4389120" y="1783080"/>
            <a:ext cx="320040" cy="320040"/>
          </a:xfrm>
          <a:prstGeom prst="rect">
            <a:avLst/>
          </a:prstGeom>
        </p:spPr>
      </p:pic>
      <p:sp>
        <p:nvSpPr>
          <p:cNvPr id="12" name="Shape 6"/>
          <p:cNvSpPr/>
          <p:nvPr/>
        </p:nvSpPr>
        <p:spPr>
          <a:xfrm>
            <a:off x="484632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3" name="Image 4" descr="preencoded.png"/>
          <p:cNvPicPr>
            <a:picLocks noChangeAspect="1"/>
          </p:cNvPicPr>
          <p:nvPr/>
        </p:nvPicPr>
        <p:blipFill>
          <a:blip r:embed="rId5"/>
          <a:stretch>
            <a:fillRect/>
          </a:stretch>
        </p:blipFill>
        <p:spPr>
          <a:xfrm>
            <a:off x="5440680" y="1508760"/>
            <a:ext cx="457200" cy="457200"/>
          </a:xfrm>
          <a:prstGeom prst="rect">
            <a:avLst/>
          </a:prstGeom>
        </p:spPr>
      </p:pic>
      <p:sp>
        <p:nvSpPr>
          <p:cNvPr id="14" name="Text 7"/>
          <p:cNvSpPr/>
          <p:nvPr/>
        </p:nvSpPr>
        <p:spPr>
          <a:xfrm>
            <a:off x="493776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Juniper</a:t>
            </a:r>
            <a:endParaRPr lang="en-US" sz="1200" dirty="0"/>
          </a:p>
          <a:p>
            <a:pPr algn="ctr" indent="0" marL="0">
              <a:buNone/>
            </a:pPr>
            <a:r>
              <a:rPr lang="en-US" sz="1200" b="1" dirty="0">
                <a:solidFill>
                  <a:srgbClr val="C8D6E5"/>
                </a:solidFill>
                <a:latin typeface="Calibri" pitchFamily="34" charset="0"/>
                <a:ea typeface="Calibri" pitchFamily="34" charset="-122"/>
                <a:cs typeface="Calibri" pitchFamily="34" charset="-120"/>
              </a:rPr>
              <a:t>EX4200</a:t>
            </a:r>
            <a:endParaRPr lang="en-US" sz="1200" dirty="0"/>
          </a:p>
        </p:txBody>
      </p:sp>
      <p:pic>
        <p:nvPicPr>
          <p:cNvPr id="15" name="Image 5" descr="preencoded.png"/>
          <p:cNvPicPr>
            <a:picLocks noChangeAspect="1"/>
          </p:cNvPicPr>
          <p:nvPr/>
        </p:nvPicPr>
        <p:blipFill>
          <a:blip r:embed="rId6"/>
          <a:stretch>
            <a:fillRect/>
          </a:stretch>
        </p:blipFill>
        <p:spPr>
          <a:xfrm>
            <a:off x="6583680" y="1783080"/>
            <a:ext cx="320040" cy="320040"/>
          </a:xfrm>
          <a:prstGeom prst="rect">
            <a:avLst/>
          </a:prstGeom>
        </p:spPr>
      </p:pic>
      <p:sp>
        <p:nvSpPr>
          <p:cNvPr id="16" name="Shape 8"/>
          <p:cNvSpPr/>
          <p:nvPr/>
        </p:nvSpPr>
        <p:spPr>
          <a:xfrm>
            <a:off x="704088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7" name="Image 6" descr="preencoded.png"/>
          <p:cNvPicPr>
            <a:picLocks noChangeAspect="1"/>
          </p:cNvPicPr>
          <p:nvPr/>
        </p:nvPicPr>
        <p:blipFill>
          <a:blip r:embed="rId7"/>
          <a:stretch>
            <a:fillRect/>
          </a:stretch>
        </p:blipFill>
        <p:spPr>
          <a:xfrm>
            <a:off x="7635240" y="1508760"/>
            <a:ext cx="457200" cy="457200"/>
          </a:xfrm>
          <a:prstGeom prst="rect">
            <a:avLst/>
          </a:prstGeom>
        </p:spPr>
      </p:pic>
      <p:sp>
        <p:nvSpPr>
          <p:cNvPr id="18" name="Text 9"/>
          <p:cNvSpPr/>
          <p:nvPr/>
        </p:nvSpPr>
        <p:spPr>
          <a:xfrm>
            <a:off x="713232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Proxmox</a:t>
            </a:r>
            <a:endParaRPr lang="en-US" sz="1200" dirty="0"/>
          </a:p>
          <a:p>
            <a:pPr algn="ctr" indent="0" marL="0">
              <a:buNone/>
            </a:pPr>
            <a:r>
              <a:rPr lang="en-US" sz="1200" b="1" dirty="0">
                <a:solidFill>
                  <a:srgbClr val="C8D6E5"/>
                </a:solidFill>
                <a:latin typeface="Calibri" pitchFamily="34" charset="0"/>
                <a:ea typeface="Calibri" pitchFamily="34" charset="-122"/>
                <a:cs typeface="Calibri" pitchFamily="34" charset="-120"/>
              </a:rPr>
              <a:t>Server</a:t>
            </a:r>
            <a:endParaRPr lang="en-US" sz="1200" dirty="0"/>
          </a:p>
        </p:txBody>
      </p:sp>
      <p:sp>
        <p:nvSpPr>
          <p:cNvPr id="19" name="Shape 10"/>
          <p:cNvSpPr/>
          <p:nvPr/>
        </p:nvSpPr>
        <p:spPr>
          <a:xfrm>
            <a:off x="457200" y="3200400"/>
            <a:ext cx="260604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0" name="Shape 11"/>
          <p:cNvSpPr/>
          <p:nvPr/>
        </p:nvSpPr>
        <p:spPr>
          <a:xfrm>
            <a:off x="457200" y="3200400"/>
            <a:ext cx="54864" cy="1371600"/>
          </a:xfrm>
          <a:prstGeom prst="rect">
            <a:avLst/>
          </a:prstGeom>
          <a:solidFill>
            <a:srgbClr val="FF6B6B"/>
          </a:solidFill>
          <a:ln/>
        </p:spPr>
      </p:sp>
      <p:sp>
        <p:nvSpPr>
          <p:cNvPr id="21" name="Text 12"/>
          <p:cNvSpPr/>
          <p:nvPr/>
        </p:nvSpPr>
        <p:spPr>
          <a:xfrm>
            <a:off x="640080" y="3291840"/>
            <a:ext cx="228600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Firewall</a:t>
            </a:r>
            <a:endParaRPr lang="en-US" sz="1400" dirty="0"/>
          </a:p>
        </p:txBody>
      </p:sp>
      <p:sp>
        <p:nvSpPr>
          <p:cNvPr id="22" name="Text 13"/>
          <p:cNvSpPr/>
          <p:nvPr/>
        </p:nvSpPr>
        <p:spPr>
          <a:xfrm>
            <a:off x="640080" y="3657600"/>
            <a:ext cx="2286000" cy="8229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Palo Alto 3410 — wide open, no egress filtering. Full exposure by design.</a:t>
            </a:r>
            <a:endParaRPr lang="en-US" sz="1100" dirty="0"/>
          </a:p>
        </p:txBody>
      </p:sp>
      <p:sp>
        <p:nvSpPr>
          <p:cNvPr id="23" name="Shape 14"/>
          <p:cNvSpPr/>
          <p:nvPr/>
        </p:nvSpPr>
        <p:spPr>
          <a:xfrm>
            <a:off x="3337560" y="3200400"/>
            <a:ext cx="260604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4" name="Shape 15"/>
          <p:cNvSpPr/>
          <p:nvPr/>
        </p:nvSpPr>
        <p:spPr>
          <a:xfrm>
            <a:off x="3337560" y="3200400"/>
            <a:ext cx="54864" cy="1371600"/>
          </a:xfrm>
          <a:prstGeom prst="rect">
            <a:avLst/>
          </a:prstGeom>
          <a:solidFill>
            <a:srgbClr val="1E90FF"/>
          </a:solidFill>
          <a:ln/>
        </p:spPr>
      </p:sp>
      <p:sp>
        <p:nvSpPr>
          <p:cNvPr id="25" name="Text 16"/>
          <p:cNvSpPr/>
          <p:nvPr/>
        </p:nvSpPr>
        <p:spPr>
          <a:xfrm>
            <a:off x="3520440" y="3291840"/>
            <a:ext cx="2286000" cy="320040"/>
          </a:xfrm>
          <a:prstGeom prst="rect">
            <a:avLst/>
          </a:prstGeom>
          <a:noFill/>
          <a:ln/>
        </p:spPr>
        <p:txBody>
          <a:bodyPr wrap="square" lIns="0" tIns="0" rIns="0" bIns="0" rtlCol="0" anchor="ctr"/>
          <a:lstStyle/>
          <a:p>
            <a:pPr indent="0" marL="0">
              <a:buNone/>
            </a:pPr>
            <a:r>
              <a:rPr lang="en-US" sz="1400" b="1" dirty="0">
                <a:solidFill>
                  <a:srgbClr val="1E90FF"/>
                </a:solidFill>
                <a:latin typeface="Calibri" pitchFamily="34" charset="0"/>
                <a:ea typeface="Calibri" pitchFamily="34" charset="-122"/>
                <a:cs typeface="Calibri" pitchFamily="34" charset="-120"/>
              </a:rPr>
              <a:t>Switch</a:t>
            </a:r>
            <a:endParaRPr lang="en-US" sz="1400" dirty="0"/>
          </a:p>
        </p:txBody>
      </p:sp>
      <p:sp>
        <p:nvSpPr>
          <p:cNvPr id="26" name="Text 17"/>
          <p:cNvSpPr/>
          <p:nvPr/>
        </p:nvSpPr>
        <p:spPr>
          <a:xfrm>
            <a:off x="3520440" y="3657600"/>
            <a:ext cx="2286000" cy="8229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SPAN/mirror port (ge-0/0/2 → ge-0/0/46) copying all honeypot traffic to Security Onion.</a:t>
            </a:r>
            <a:endParaRPr lang="en-US" sz="1100" dirty="0"/>
          </a:p>
        </p:txBody>
      </p:sp>
      <p:sp>
        <p:nvSpPr>
          <p:cNvPr id="27" name="Shape 18"/>
          <p:cNvSpPr/>
          <p:nvPr/>
        </p:nvSpPr>
        <p:spPr>
          <a:xfrm>
            <a:off x="6217920" y="3200400"/>
            <a:ext cx="260604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8" name="Shape 19"/>
          <p:cNvSpPr/>
          <p:nvPr/>
        </p:nvSpPr>
        <p:spPr>
          <a:xfrm>
            <a:off x="6217920" y="3200400"/>
            <a:ext cx="54864" cy="1371600"/>
          </a:xfrm>
          <a:prstGeom prst="rect">
            <a:avLst/>
          </a:prstGeom>
          <a:solidFill>
            <a:srgbClr val="00D4AA"/>
          </a:solidFill>
          <a:ln/>
        </p:spPr>
      </p:sp>
      <p:sp>
        <p:nvSpPr>
          <p:cNvPr id="29" name="Text 20"/>
          <p:cNvSpPr/>
          <p:nvPr/>
        </p:nvSpPr>
        <p:spPr>
          <a:xfrm>
            <a:off x="6400800" y="3291840"/>
            <a:ext cx="2286000" cy="320040"/>
          </a:xfrm>
          <a:prstGeom prst="rect">
            <a:avLst/>
          </a:prstGeom>
          <a:noFill/>
          <a:ln/>
        </p:spPr>
        <p:txBody>
          <a:bodyPr wrap="square" lIns="0" tIns="0" rIns="0" bIns="0"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Virtualization</a:t>
            </a:r>
            <a:endParaRPr lang="en-US" sz="1400" dirty="0"/>
          </a:p>
        </p:txBody>
      </p:sp>
      <p:sp>
        <p:nvSpPr>
          <p:cNvPr id="30" name="Text 21"/>
          <p:cNvSpPr/>
          <p:nvPr/>
        </p:nvSpPr>
        <p:spPr>
          <a:xfrm>
            <a:off x="6400800" y="3657600"/>
            <a:ext cx="2286000" cy="8229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Single Proxmox host running Security Onion VM (60GB RAM) and honeypot webserver.</a:t>
            </a:r>
            <a:endParaRPr lang="en-US" sz="1100" dirty="0"/>
          </a:p>
        </p:txBody>
      </p:sp>
      <p:sp>
        <p:nvSpPr>
          <p:cNvPr id="31" name="Text 2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ATTACK SURFACE</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Deliberately Exposed Services</a:t>
            </a:r>
            <a:endParaRPr lang="en-US" sz="1400" dirty="0"/>
          </a:p>
        </p:txBody>
      </p:sp>
      <p:pic>
        <p:nvPicPr>
          <p:cNvPr id="4" name="Image 0" descr="/sessions/funny-elegant-cori/mnt/presentation/image.png"/>
          <p:cNvPicPr>
            <a:picLocks noChangeAspect="1"/>
          </p:cNvPicPr>
          <p:nvPr/>
        </p:nvPicPr>
        <p:blipFill>
          <a:blip r:embed="rId1"/>
          <a:stretch>
            <a:fillRect/>
          </a:stretch>
        </p:blipFill>
        <p:spPr>
          <a:xfrm>
            <a:off x="457200" y="1280160"/>
            <a:ext cx="3840480" cy="3291840"/>
          </a:xfrm>
          <a:prstGeom prst="rect">
            <a:avLst/>
          </a:prstGeom>
          <a:effectLst>
            <a:outerShdw sx="100000" sy="100000" kx="0" ky="0" algn="bl" rotWithShape="0" blurRad="101600" dist="38100" dir="8100000">
              <a:srgbClr val="000000">
                <a:alpha val="30000"/>
              </a:srgbClr>
            </a:outerShdw>
          </a:effectLst>
        </p:spPr>
      </p:pic>
      <p:sp>
        <p:nvSpPr>
          <p:cNvPr id="5" name="Text 2"/>
          <p:cNvSpPr/>
          <p:nvPr/>
        </p:nvSpPr>
        <p:spPr>
          <a:xfrm>
            <a:off x="457200" y="4617720"/>
            <a:ext cx="3840480" cy="274320"/>
          </a:xfrm>
          <a:prstGeom prst="rect">
            <a:avLst/>
          </a:prstGeom>
          <a:noFill/>
          <a:ln/>
        </p:spPr>
        <p:txBody>
          <a:bodyPr wrap="square" rtlCol="0" anchor="ctr"/>
          <a:lstStyle/>
          <a:p>
            <a:pPr algn="ctr" indent="0" marL="0">
              <a:buNone/>
            </a:pPr>
            <a:r>
              <a:rPr lang="en-US" sz="1000" i="1" dirty="0">
                <a:solidFill>
                  <a:srgbClr val="6B7B8D"/>
                </a:solidFill>
                <a:latin typeface="Calibri" pitchFamily="34" charset="0"/>
                <a:ea typeface="Calibri" pitchFamily="34" charset="-122"/>
                <a:cs typeface="Calibri" pitchFamily="34" charset="-120"/>
              </a:rPr>
              <a:t>agricultureintech.net — Live Honeypot</a:t>
            </a:r>
            <a:endParaRPr lang="en-US" sz="1000" dirty="0"/>
          </a:p>
        </p:txBody>
      </p:sp>
      <p:sp>
        <p:nvSpPr>
          <p:cNvPr id="6" name="Shape 3"/>
          <p:cNvSpPr/>
          <p:nvPr/>
        </p:nvSpPr>
        <p:spPr>
          <a:xfrm>
            <a:off x="4663440" y="12801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7" name="Shape 4"/>
          <p:cNvSpPr/>
          <p:nvPr/>
        </p:nvSpPr>
        <p:spPr>
          <a:xfrm>
            <a:off x="4663440" y="1280160"/>
            <a:ext cx="54864" cy="777240"/>
          </a:xfrm>
          <a:prstGeom prst="rect">
            <a:avLst/>
          </a:prstGeom>
          <a:solidFill>
            <a:srgbClr val="FF6B6B"/>
          </a:solidFill>
          <a:ln/>
        </p:spPr>
      </p:sp>
      <p:sp>
        <p:nvSpPr>
          <p:cNvPr id="8" name="Text 5"/>
          <p:cNvSpPr/>
          <p:nvPr/>
        </p:nvSpPr>
        <p:spPr>
          <a:xfrm>
            <a:off x="4892040" y="13258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Apache HTTPD</a:t>
            </a:r>
            <a:endParaRPr lang="en-US" sz="1400" dirty="0"/>
          </a:p>
        </p:txBody>
      </p:sp>
      <p:sp>
        <p:nvSpPr>
          <p:cNvPr id="9" name="Text 6"/>
          <p:cNvSpPr/>
          <p:nvPr/>
        </p:nvSpPr>
        <p:spPr>
          <a:xfrm>
            <a:off x="7315200" y="13258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80 / 443</a:t>
            </a:r>
            <a:endParaRPr lang="en-US" sz="1200" dirty="0"/>
          </a:p>
        </p:txBody>
      </p:sp>
      <p:sp>
        <p:nvSpPr>
          <p:cNvPr id="10" name="Text 7"/>
          <p:cNvSpPr/>
          <p:nvPr/>
        </p:nvSpPr>
        <p:spPr>
          <a:xfrm>
            <a:off x="4892040" y="16459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Web-facing honeypot</a:t>
            </a:r>
            <a:endParaRPr lang="en-US" sz="1100" dirty="0"/>
          </a:p>
        </p:txBody>
      </p:sp>
      <p:sp>
        <p:nvSpPr>
          <p:cNvPr id="11" name="Shape 8"/>
          <p:cNvSpPr/>
          <p:nvPr/>
        </p:nvSpPr>
        <p:spPr>
          <a:xfrm>
            <a:off x="4663440" y="21945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2" name="Shape 9"/>
          <p:cNvSpPr/>
          <p:nvPr/>
        </p:nvSpPr>
        <p:spPr>
          <a:xfrm>
            <a:off x="4663440" y="2194560"/>
            <a:ext cx="54864" cy="777240"/>
          </a:xfrm>
          <a:prstGeom prst="rect">
            <a:avLst/>
          </a:prstGeom>
          <a:solidFill>
            <a:srgbClr val="FF6B6B"/>
          </a:solidFill>
          <a:ln/>
        </p:spPr>
      </p:sp>
      <p:sp>
        <p:nvSpPr>
          <p:cNvPr id="13" name="Text 10"/>
          <p:cNvSpPr/>
          <p:nvPr/>
        </p:nvSpPr>
        <p:spPr>
          <a:xfrm>
            <a:off x="4892040" y="22402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Apache ActiveMQ</a:t>
            </a:r>
            <a:endParaRPr lang="en-US" sz="1400" dirty="0"/>
          </a:p>
        </p:txBody>
      </p:sp>
      <p:sp>
        <p:nvSpPr>
          <p:cNvPr id="14" name="Text 11"/>
          <p:cNvSpPr/>
          <p:nvPr/>
        </p:nvSpPr>
        <p:spPr>
          <a:xfrm>
            <a:off x="7315200" y="22402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61616 / 8161</a:t>
            </a:r>
            <a:endParaRPr lang="en-US" sz="1200" dirty="0"/>
          </a:p>
        </p:txBody>
      </p:sp>
      <p:sp>
        <p:nvSpPr>
          <p:cNvPr id="15" name="Text 12"/>
          <p:cNvSpPr/>
          <p:nvPr/>
        </p:nvSpPr>
        <p:spPr>
          <a:xfrm>
            <a:off x="4892040" y="25603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CVE-2023-46604 RCE target</a:t>
            </a:r>
            <a:endParaRPr lang="en-US" sz="1100" dirty="0"/>
          </a:p>
        </p:txBody>
      </p:sp>
      <p:sp>
        <p:nvSpPr>
          <p:cNvPr id="16" name="Shape 13"/>
          <p:cNvSpPr/>
          <p:nvPr/>
        </p:nvSpPr>
        <p:spPr>
          <a:xfrm>
            <a:off x="4663440" y="31089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7" name="Shape 14"/>
          <p:cNvSpPr/>
          <p:nvPr/>
        </p:nvSpPr>
        <p:spPr>
          <a:xfrm>
            <a:off x="4663440" y="3108960"/>
            <a:ext cx="54864" cy="777240"/>
          </a:xfrm>
          <a:prstGeom prst="rect">
            <a:avLst/>
          </a:prstGeom>
          <a:solidFill>
            <a:srgbClr val="FF6B6B"/>
          </a:solidFill>
          <a:ln/>
        </p:spPr>
      </p:sp>
      <p:sp>
        <p:nvSpPr>
          <p:cNvPr id="18" name="Text 15"/>
          <p:cNvSpPr/>
          <p:nvPr/>
        </p:nvSpPr>
        <p:spPr>
          <a:xfrm>
            <a:off x="4892040" y="31546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Jenkins</a:t>
            </a:r>
            <a:endParaRPr lang="en-US" sz="1400" dirty="0"/>
          </a:p>
        </p:txBody>
      </p:sp>
      <p:sp>
        <p:nvSpPr>
          <p:cNvPr id="19" name="Text 16"/>
          <p:cNvSpPr/>
          <p:nvPr/>
        </p:nvSpPr>
        <p:spPr>
          <a:xfrm>
            <a:off x="7315200" y="31546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8081</a:t>
            </a:r>
            <a:endParaRPr lang="en-US" sz="1200" dirty="0"/>
          </a:p>
        </p:txBody>
      </p:sp>
      <p:sp>
        <p:nvSpPr>
          <p:cNvPr id="20" name="Text 17"/>
          <p:cNvSpPr/>
          <p:nvPr/>
        </p:nvSpPr>
        <p:spPr>
          <a:xfrm>
            <a:off x="4892040" y="34747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Unauthenticated RCE exploits</a:t>
            </a:r>
            <a:endParaRPr lang="en-US" sz="1100" dirty="0"/>
          </a:p>
        </p:txBody>
      </p:sp>
      <p:sp>
        <p:nvSpPr>
          <p:cNvPr id="21" name="Shape 18"/>
          <p:cNvSpPr/>
          <p:nvPr/>
        </p:nvSpPr>
        <p:spPr>
          <a:xfrm>
            <a:off x="4663440" y="40233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2" name="Shape 19"/>
          <p:cNvSpPr/>
          <p:nvPr/>
        </p:nvSpPr>
        <p:spPr>
          <a:xfrm>
            <a:off x="4663440" y="4023360"/>
            <a:ext cx="54864" cy="777240"/>
          </a:xfrm>
          <a:prstGeom prst="rect">
            <a:avLst/>
          </a:prstGeom>
          <a:solidFill>
            <a:srgbClr val="FF6B6B"/>
          </a:solidFill>
          <a:ln/>
        </p:spPr>
      </p:sp>
      <p:sp>
        <p:nvSpPr>
          <p:cNvPr id="23" name="Text 20"/>
          <p:cNvSpPr/>
          <p:nvPr/>
        </p:nvSpPr>
        <p:spPr>
          <a:xfrm>
            <a:off x="4892040" y="40690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Metabase</a:t>
            </a:r>
            <a:endParaRPr lang="en-US" sz="1400" dirty="0"/>
          </a:p>
        </p:txBody>
      </p:sp>
      <p:sp>
        <p:nvSpPr>
          <p:cNvPr id="24" name="Text 21"/>
          <p:cNvSpPr/>
          <p:nvPr/>
        </p:nvSpPr>
        <p:spPr>
          <a:xfrm>
            <a:off x="7315200" y="40690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3000</a:t>
            </a:r>
            <a:endParaRPr lang="en-US" sz="1200" dirty="0"/>
          </a:p>
        </p:txBody>
      </p:sp>
      <p:sp>
        <p:nvSpPr>
          <p:cNvPr id="25" name="Text 22"/>
          <p:cNvSpPr/>
          <p:nvPr/>
        </p:nvSpPr>
        <p:spPr>
          <a:xfrm>
            <a:off x="4892040" y="43891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Known attack surface</a:t>
            </a:r>
            <a:endParaRPr lang="en-US" sz="1100" dirty="0"/>
          </a:p>
        </p:txBody>
      </p:sp>
      <p:sp>
        <p:nvSpPr>
          <p:cNvPr id="26" name="Text 2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MONITORING PIPELINE</a:t>
            </a:r>
            <a:endParaRPr lang="en-US" sz="3200" dirty="0"/>
          </a:p>
        </p:txBody>
      </p:sp>
      <p:sp>
        <p:nvSpPr>
          <p:cNvPr id="3" name="Shape 1"/>
          <p:cNvSpPr/>
          <p:nvPr/>
        </p:nvSpPr>
        <p:spPr>
          <a:xfrm>
            <a:off x="27432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4" name="Image 0" descr="preencoded.png"/>
          <p:cNvPicPr>
            <a:picLocks noChangeAspect="1"/>
          </p:cNvPicPr>
          <p:nvPr/>
        </p:nvPicPr>
        <p:blipFill>
          <a:blip r:embed="rId1"/>
          <a:stretch>
            <a:fillRect/>
          </a:stretch>
        </p:blipFill>
        <p:spPr>
          <a:xfrm>
            <a:off x="1005840" y="1280160"/>
            <a:ext cx="411480" cy="411480"/>
          </a:xfrm>
          <a:prstGeom prst="rect">
            <a:avLst/>
          </a:prstGeom>
        </p:spPr>
      </p:pic>
      <p:sp>
        <p:nvSpPr>
          <p:cNvPr id="5" name="Text 2"/>
          <p:cNvSpPr/>
          <p:nvPr/>
        </p:nvSpPr>
        <p:spPr>
          <a:xfrm>
            <a:off x="36576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Honeypot</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Traffic</a:t>
            </a:r>
            <a:endParaRPr lang="en-US" sz="1100" dirty="0"/>
          </a:p>
        </p:txBody>
      </p:sp>
      <p:pic>
        <p:nvPicPr>
          <p:cNvPr id="6" name="Image 1" descr="preencoded.png"/>
          <p:cNvPicPr>
            <a:picLocks noChangeAspect="1"/>
          </p:cNvPicPr>
          <p:nvPr/>
        </p:nvPicPr>
        <p:blipFill>
          <a:blip r:embed="rId2"/>
          <a:stretch>
            <a:fillRect/>
          </a:stretch>
        </p:blipFill>
        <p:spPr>
          <a:xfrm>
            <a:off x="2240280" y="1508760"/>
            <a:ext cx="228600" cy="228600"/>
          </a:xfrm>
          <a:prstGeom prst="rect">
            <a:avLst/>
          </a:prstGeom>
        </p:spPr>
      </p:pic>
      <p:sp>
        <p:nvSpPr>
          <p:cNvPr id="7" name="Shape 3"/>
          <p:cNvSpPr/>
          <p:nvPr/>
        </p:nvSpPr>
        <p:spPr>
          <a:xfrm>
            <a:off x="251460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8" name="Image 2" descr="preencoded.png"/>
          <p:cNvPicPr>
            <a:picLocks noChangeAspect="1"/>
          </p:cNvPicPr>
          <p:nvPr/>
        </p:nvPicPr>
        <p:blipFill>
          <a:blip r:embed="rId3"/>
          <a:stretch>
            <a:fillRect/>
          </a:stretch>
        </p:blipFill>
        <p:spPr>
          <a:xfrm>
            <a:off x="3246120" y="1280160"/>
            <a:ext cx="411480" cy="411480"/>
          </a:xfrm>
          <a:prstGeom prst="rect">
            <a:avLst/>
          </a:prstGeom>
        </p:spPr>
      </p:pic>
      <p:sp>
        <p:nvSpPr>
          <p:cNvPr id="9" name="Text 4"/>
          <p:cNvSpPr/>
          <p:nvPr/>
        </p:nvSpPr>
        <p:spPr>
          <a:xfrm>
            <a:off x="260604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Juniper SPAN</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Port Mirror</a:t>
            </a:r>
            <a:endParaRPr lang="en-US" sz="1100" dirty="0"/>
          </a:p>
        </p:txBody>
      </p:sp>
      <p:pic>
        <p:nvPicPr>
          <p:cNvPr id="10" name="Image 3" descr="preencoded.png"/>
          <p:cNvPicPr>
            <a:picLocks noChangeAspect="1"/>
          </p:cNvPicPr>
          <p:nvPr/>
        </p:nvPicPr>
        <p:blipFill>
          <a:blip r:embed="rId4"/>
          <a:stretch>
            <a:fillRect/>
          </a:stretch>
        </p:blipFill>
        <p:spPr>
          <a:xfrm>
            <a:off x="4480560" y="1508760"/>
            <a:ext cx="228600" cy="228600"/>
          </a:xfrm>
          <a:prstGeom prst="rect">
            <a:avLst/>
          </a:prstGeom>
        </p:spPr>
      </p:pic>
      <p:sp>
        <p:nvSpPr>
          <p:cNvPr id="11" name="Shape 5"/>
          <p:cNvSpPr/>
          <p:nvPr/>
        </p:nvSpPr>
        <p:spPr>
          <a:xfrm>
            <a:off x="475488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2" name="Image 4" descr="preencoded.png"/>
          <p:cNvPicPr>
            <a:picLocks noChangeAspect="1"/>
          </p:cNvPicPr>
          <p:nvPr/>
        </p:nvPicPr>
        <p:blipFill>
          <a:blip r:embed="rId5"/>
          <a:stretch>
            <a:fillRect/>
          </a:stretch>
        </p:blipFill>
        <p:spPr>
          <a:xfrm>
            <a:off x="5486400" y="1280160"/>
            <a:ext cx="411480" cy="411480"/>
          </a:xfrm>
          <a:prstGeom prst="rect">
            <a:avLst/>
          </a:prstGeom>
        </p:spPr>
      </p:pic>
      <p:sp>
        <p:nvSpPr>
          <p:cNvPr id="13" name="Text 6"/>
          <p:cNvSpPr/>
          <p:nvPr/>
        </p:nvSpPr>
        <p:spPr>
          <a:xfrm>
            <a:off x="484632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Proxmox Bridge</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vmbr1 (Promisc)</a:t>
            </a:r>
            <a:endParaRPr lang="en-US" sz="1100" dirty="0"/>
          </a:p>
        </p:txBody>
      </p:sp>
      <p:pic>
        <p:nvPicPr>
          <p:cNvPr id="14" name="Image 5" descr="preencoded.png"/>
          <p:cNvPicPr>
            <a:picLocks noChangeAspect="1"/>
          </p:cNvPicPr>
          <p:nvPr/>
        </p:nvPicPr>
        <p:blipFill>
          <a:blip r:embed="rId6"/>
          <a:stretch>
            <a:fillRect/>
          </a:stretch>
        </p:blipFill>
        <p:spPr>
          <a:xfrm>
            <a:off x="6720840" y="1508760"/>
            <a:ext cx="228600" cy="228600"/>
          </a:xfrm>
          <a:prstGeom prst="rect">
            <a:avLst/>
          </a:prstGeom>
        </p:spPr>
      </p:pic>
      <p:sp>
        <p:nvSpPr>
          <p:cNvPr id="15" name="Shape 7"/>
          <p:cNvSpPr/>
          <p:nvPr/>
        </p:nvSpPr>
        <p:spPr>
          <a:xfrm>
            <a:off x="699516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6" name="Image 6" descr="preencoded.png"/>
          <p:cNvPicPr>
            <a:picLocks noChangeAspect="1"/>
          </p:cNvPicPr>
          <p:nvPr/>
        </p:nvPicPr>
        <p:blipFill>
          <a:blip r:embed="rId7"/>
          <a:stretch>
            <a:fillRect/>
          </a:stretch>
        </p:blipFill>
        <p:spPr>
          <a:xfrm>
            <a:off x="7726680" y="1280160"/>
            <a:ext cx="411480" cy="411480"/>
          </a:xfrm>
          <a:prstGeom prst="rect">
            <a:avLst/>
          </a:prstGeom>
        </p:spPr>
      </p:pic>
      <p:sp>
        <p:nvSpPr>
          <p:cNvPr id="17" name="Text 8"/>
          <p:cNvSpPr/>
          <p:nvPr/>
        </p:nvSpPr>
        <p:spPr>
          <a:xfrm>
            <a:off x="708660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Security Onion</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ens19</a:t>
            </a:r>
            <a:endParaRPr lang="en-US" sz="1100" dirty="0"/>
          </a:p>
        </p:txBody>
      </p:sp>
      <p:sp>
        <p:nvSpPr>
          <p:cNvPr id="18" name="Shape 9"/>
          <p:cNvSpPr/>
          <p:nvPr/>
        </p:nvSpPr>
        <p:spPr>
          <a:xfrm>
            <a:off x="27432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9" name="Shape 10"/>
          <p:cNvSpPr/>
          <p:nvPr/>
        </p:nvSpPr>
        <p:spPr>
          <a:xfrm>
            <a:off x="274320" y="2743200"/>
            <a:ext cx="1920240" cy="45720"/>
          </a:xfrm>
          <a:prstGeom prst="rect">
            <a:avLst/>
          </a:prstGeom>
          <a:solidFill>
            <a:srgbClr val="FF6B6B"/>
          </a:solidFill>
          <a:ln/>
        </p:spPr>
      </p:sp>
      <p:sp>
        <p:nvSpPr>
          <p:cNvPr id="20" name="Text 11"/>
          <p:cNvSpPr/>
          <p:nvPr/>
        </p:nvSpPr>
        <p:spPr>
          <a:xfrm>
            <a:off x="365760" y="2880360"/>
            <a:ext cx="1737360" cy="320040"/>
          </a:xfrm>
          <a:prstGeom prst="rect">
            <a:avLst/>
          </a:prstGeom>
          <a:noFill/>
          <a:ln/>
        </p:spPr>
        <p:txBody>
          <a:bodyPr wrap="square" rtlCol="0" anchor="ctr"/>
          <a:lstStyle/>
          <a:p>
            <a:pPr algn="ctr" indent="0" marL="0">
              <a:buNone/>
            </a:pPr>
            <a:r>
              <a:rPr lang="en-US" sz="1500" b="1" dirty="0">
                <a:solidFill>
                  <a:srgbClr val="FF6B6B"/>
                </a:solidFill>
                <a:latin typeface="Calibri" pitchFamily="34" charset="0"/>
                <a:ea typeface="Calibri" pitchFamily="34" charset="-122"/>
                <a:cs typeface="Calibri" pitchFamily="34" charset="-120"/>
              </a:rPr>
              <a:t>Suricata</a:t>
            </a:r>
            <a:endParaRPr lang="en-US" sz="1500" dirty="0"/>
          </a:p>
        </p:txBody>
      </p:sp>
      <p:sp>
        <p:nvSpPr>
          <p:cNvPr id="21" name="Text 12"/>
          <p:cNvSpPr/>
          <p:nvPr/>
        </p:nvSpPr>
        <p:spPr>
          <a:xfrm>
            <a:off x="36576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IDS/IPS Alerts</a:t>
            </a:r>
            <a:endParaRPr lang="en-US" sz="1100" dirty="0"/>
          </a:p>
        </p:txBody>
      </p:sp>
      <p:sp>
        <p:nvSpPr>
          <p:cNvPr id="22" name="Shape 13"/>
          <p:cNvSpPr/>
          <p:nvPr/>
        </p:nvSpPr>
        <p:spPr>
          <a:xfrm>
            <a:off x="251460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3" name="Shape 14"/>
          <p:cNvSpPr/>
          <p:nvPr/>
        </p:nvSpPr>
        <p:spPr>
          <a:xfrm>
            <a:off x="2514600" y="2743200"/>
            <a:ext cx="1920240" cy="45720"/>
          </a:xfrm>
          <a:prstGeom prst="rect">
            <a:avLst/>
          </a:prstGeom>
          <a:solidFill>
            <a:srgbClr val="1E90FF"/>
          </a:solidFill>
          <a:ln/>
        </p:spPr>
      </p:sp>
      <p:sp>
        <p:nvSpPr>
          <p:cNvPr id="24" name="Text 15"/>
          <p:cNvSpPr/>
          <p:nvPr/>
        </p:nvSpPr>
        <p:spPr>
          <a:xfrm>
            <a:off x="2606040" y="2880360"/>
            <a:ext cx="1737360" cy="320040"/>
          </a:xfrm>
          <a:prstGeom prst="rect">
            <a:avLst/>
          </a:prstGeom>
          <a:noFill/>
          <a:ln/>
        </p:spPr>
        <p:txBody>
          <a:bodyPr wrap="square" rtlCol="0" anchor="ctr"/>
          <a:lstStyle/>
          <a:p>
            <a:pPr algn="ctr" indent="0" marL="0">
              <a:buNone/>
            </a:pPr>
            <a:r>
              <a:rPr lang="en-US" sz="1500" b="1" dirty="0">
                <a:solidFill>
                  <a:srgbClr val="1E90FF"/>
                </a:solidFill>
                <a:latin typeface="Calibri" pitchFamily="34" charset="0"/>
                <a:ea typeface="Calibri" pitchFamily="34" charset="-122"/>
                <a:cs typeface="Calibri" pitchFamily="34" charset="-120"/>
              </a:rPr>
              <a:t>Zeek</a:t>
            </a:r>
            <a:endParaRPr lang="en-US" sz="1500" dirty="0"/>
          </a:p>
        </p:txBody>
      </p:sp>
      <p:sp>
        <p:nvSpPr>
          <p:cNvPr id="25" name="Text 16"/>
          <p:cNvSpPr/>
          <p:nvPr/>
        </p:nvSpPr>
        <p:spPr>
          <a:xfrm>
            <a:off x="260604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Connection Logs &amp;</a:t>
            </a:r>
            <a:endParaRPr lang="en-US" sz="1100" dirty="0"/>
          </a:p>
          <a:p>
            <a:pPr algn="ctr" indent="0" marL="0">
              <a:buNone/>
            </a:pPr>
            <a:r>
              <a:rPr lang="en-US" sz="1100" dirty="0">
                <a:solidFill>
                  <a:srgbClr val="C8D6E5"/>
                </a:solidFill>
                <a:latin typeface="Calibri" pitchFamily="34" charset="0"/>
                <a:ea typeface="Calibri" pitchFamily="34" charset="-122"/>
                <a:cs typeface="Calibri" pitchFamily="34" charset="-120"/>
              </a:rPr>
              <a:t>Protocol Analysis</a:t>
            </a:r>
            <a:endParaRPr lang="en-US" sz="1100" dirty="0"/>
          </a:p>
        </p:txBody>
      </p:sp>
      <p:sp>
        <p:nvSpPr>
          <p:cNvPr id="26" name="Shape 17"/>
          <p:cNvSpPr/>
          <p:nvPr/>
        </p:nvSpPr>
        <p:spPr>
          <a:xfrm>
            <a:off x="475488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7" name="Shape 18"/>
          <p:cNvSpPr/>
          <p:nvPr/>
        </p:nvSpPr>
        <p:spPr>
          <a:xfrm>
            <a:off x="4754880" y="2743200"/>
            <a:ext cx="1920240" cy="45720"/>
          </a:xfrm>
          <a:prstGeom prst="rect">
            <a:avLst/>
          </a:prstGeom>
          <a:solidFill>
            <a:srgbClr val="00D4AA"/>
          </a:solidFill>
          <a:ln/>
        </p:spPr>
      </p:sp>
      <p:sp>
        <p:nvSpPr>
          <p:cNvPr id="28" name="Text 19"/>
          <p:cNvSpPr/>
          <p:nvPr/>
        </p:nvSpPr>
        <p:spPr>
          <a:xfrm>
            <a:off x="4846320" y="2880360"/>
            <a:ext cx="1737360" cy="320040"/>
          </a:xfrm>
          <a:prstGeom prst="rect">
            <a:avLst/>
          </a:prstGeom>
          <a:noFill/>
          <a:ln/>
        </p:spPr>
        <p:txBody>
          <a:bodyPr wrap="square" rtlCol="0" anchor="ctr"/>
          <a:lstStyle/>
          <a:p>
            <a:pPr algn="ctr" indent="0" marL="0">
              <a:buNone/>
            </a:pPr>
            <a:r>
              <a:rPr lang="en-US" sz="1500" b="1" dirty="0">
                <a:solidFill>
                  <a:srgbClr val="00D4AA"/>
                </a:solidFill>
                <a:latin typeface="Calibri" pitchFamily="34" charset="0"/>
                <a:ea typeface="Calibri" pitchFamily="34" charset="-122"/>
                <a:cs typeface="Calibri" pitchFamily="34" charset="-120"/>
              </a:rPr>
              <a:t>Arkime</a:t>
            </a:r>
            <a:endParaRPr lang="en-US" sz="1500" dirty="0"/>
          </a:p>
        </p:txBody>
      </p:sp>
      <p:sp>
        <p:nvSpPr>
          <p:cNvPr id="29" name="Text 20"/>
          <p:cNvSpPr/>
          <p:nvPr/>
        </p:nvSpPr>
        <p:spPr>
          <a:xfrm>
            <a:off x="484632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Full Packet</a:t>
            </a:r>
            <a:endParaRPr lang="en-US" sz="1100" dirty="0"/>
          </a:p>
          <a:p>
            <a:pPr algn="ctr" indent="0" marL="0">
              <a:buNone/>
            </a:pPr>
            <a:r>
              <a:rPr lang="en-US" sz="1100" dirty="0">
                <a:solidFill>
                  <a:srgbClr val="C8D6E5"/>
                </a:solidFill>
                <a:latin typeface="Calibri" pitchFamily="34" charset="0"/>
                <a:ea typeface="Calibri" pitchFamily="34" charset="-122"/>
                <a:cs typeface="Calibri" pitchFamily="34" charset="-120"/>
              </a:rPr>
              <a:t>Capture</a:t>
            </a:r>
            <a:endParaRPr lang="en-US" sz="1100" dirty="0"/>
          </a:p>
        </p:txBody>
      </p:sp>
      <p:sp>
        <p:nvSpPr>
          <p:cNvPr id="30" name="Shape 21"/>
          <p:cNvSpPr/>
          <p:nvPr/>
        </p:nvSpPr>
        <p:spPr>
          <a:xfrm>
            <a:off x="699516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31" name="Shape 22"/>
          <p:cNvSpPr/>
          <p:nvPr/>
        </p:nvSpPr>
        <p:spPr>
          <a:xfrm>
            <a:off x="6995160" y="2743200"/>
            <a:ext cx="1920240" cy="45720"/>
          </a:xfrm>
          <a:prstGeom prst="rect">
            <a:avLst/>
          </a:prstGeom>
          <a:solidFill>
            <a:srgbClr val="00D4AA"/>
          </a:solidFill>
          <a:ln/>
        </p:spPr>
      </p:sp>
      <p:sp>
        <p:nvSpPr>
          <p:cNvPr id="32" name="Text 23"/>
          <p:cNvSpPr/>
          <p:nvPr/>
        </p:nvSpPr>
        <p:spPr>
          <a:xfrm>
            <a:off x="7086600" y="2880360"/>
            <a:ext cx="1737360" cy="320040"/>
          </a:xfrm>
          <a:prstGeom prst="rect">
            <a:avLst/>
          </a:prstGeom>
          <a:noFill/>
          <a:ln/>
        </p:spPr>
        <p:txBody>
          <a:bodyPr wrap="square" rtlCol="0" anchor="ctr"/>
          <a:lstStyle/>
          <a:p>
            <a:pPr algn="ctr" indent="0" marL="0">
              <a:buNone/>
            </a:pPr>
            <a:r>
              <a:rPr lang="en-US" sz="1500" b="1" dirty="0">
                <a:solidFill>
                  <a:srgbClr val="00D4AA"/>
                </a:solidFill>
                <a:latin typeface="Calibri" pitchFamily="34" charset="0"/>
                <a:ea typeface="Calibri" pitchFamily="34" charset="-122"/>
                <a:cs typeface="Calibri" pitchFamily="34" charset="-120"/>
              </a:rPr>
              <a:t>ELK Stack</a:t>
            </a:r>
            <a:endParaRPr lang="en-US" sz="1500" dirty="0"/>
          </a:p>
        </p:txBody>
      </p:sp>
      <p:sp>
        <p:nvSpPr>
          <p:cNvPr id="33" name="Text 24"/>
          <p:cNvSpPr/>
          <p:nvPr/>
        </p:nvSpPr>
        <p:spPr>
          <a:xfrm>
            <a:off x="708660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Elasticsearch, Logstash</a:t>
            </a:r>
            <a:endParaRPr lang="en-US" sz="1100" dirty="0"/>
          </a:p>
          <a:p>
            <a:pPr algn="ctr" indent="0" marL="0">
              <a:buNone/>
            </a:pPr>
            <a:r>
              <a:rPr lang="en-US" sz="1100" dirty="0">
                <a:solidFill>
                  <a:srgbClr val="C8D6E5"/>
                </a:solidFill>
                <a:latin typeface="Calibri" pitchFamily="34" charset="0"/>
                <a:ea typeface="Calibri" pitchFamily="34" charset="-122"/>
                <a:cs typeface="Calibri" pitchFamily="34" charset="-120"/>
              </a:rPr>
              <a:t>Kibana Dashboards</a:t>
            </a:r>
            <a:endParaRPr lang="en-US" sz="1100" dirty="0"/>
          </a:p>
        </p:txBody>
      </p:sp>
      <p:sp>
        <p:nvSpPr>
          <p:cNvPr id="34" name="Text 25"/>
          <p:cNvSpPr/>
          <p:nvPr/>
        </p:nvSpPr>
        <p:spPr>
          <a:xfrm>
            <a:off x="274320" y="2377440"/>
            <a:ext cx="8595360" cy="320040"/>
          </a:xfrm>
          <a:prstGeom prst="rect">
            <a:avLst/>
          </a:prstGeom>
          <a:noFill/>
          <a:ln/>
        </p:spPr>
        <p:txBody>
          <a:bodyPr wrap="square" rtlCol="0" anchor="ctr"/>
          <a:lstStyle/>
          <a:p>
            <a:pPr algn="ctr" indent="0" marL="0">
              <a:buNone/>
            </a:pPr>
            <a:r>
              <a:rPr lang="en-US" sz="1600" dirty="0">
                <a:solidFill>
                  <a:srgbClr val="00D4AA"/>
                </a:solidFill>
              </a:rPr>
              <a:t>▼</a:t>
            </a:r>
            <a:endParaRPr lang="en-US" sz="1600" dirty="0"/>
          </a:p>
        </p:txBody>
      </p:sp>
      <p:sp>
        <p:nvSpPr>
          <p:cNvPr id="35" name="Text 2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PACKET CAPTURE</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Live Traffic Analysis via Arkime</a:t>
            </a:r>
            <a:endParaRPr lang="en-US" sz="1400" dirty="0"/>
          </a:p>
        </p:txBody>
      </p:sp>
      <p:sp>
        <p:nvSpPr>
          <p:cNvPr id="4" name="Shape 2"/>
          <p:cNvSpPr/>
          <p:nvPr/>
        </p:nvSpPr>
        <p:spPr>
          <a:xfrm>
            <a:off x="457200" y="1280160"/>
            <a:ext cx="8229600" cy="3200400"/>
          </a:xfrm>
          <a:prstGeom prst="rect">
            <a:avLst/>
          </a:prstGeom>
          <a:solidFill>
            <a:srgbClr val="162236"/>
          </a:solidFill>
          <a:ln/>
          <a:effectLst>
            <a:outerShdw sx="100000" sy="100000" kx="0" ky="0" algn="bl" rotWithShape="0" blurRad="101600" dist="38100" dir="8100000">
              <a:srgbClr val="000000">
                <a:alpha val="30000"/>
              </a:srgbClr>
            </a:outerShdw>
          </a:effectLst>
        </p:spPr>
      </p:sp>
      <p:pic>
        <p:nvPicPr>
          <p:cNvPr id="5" name="Image 0" descr="/sessions/funny-elegant-cori/mnt/presentation/image2.png"/>
          <p:cNvPicPr>
            <a:picLocks noChangeAspect="1"/>
          </p:cNvPicPr>
          <p:nvPr/>
        </p:nvPicPr>
        <p:blipFill>
          <a:blip r:embed="rId1"/>
          <a:stretch>
            <a:fillRect/>
          </a:stretch>
        </p:blipFill>
        <p:spPr>
          <a:xfrm>
            <a:off x="548640" y="1371600"/>
            <a:ext cx="8046720" cy="3017520"/>
          </a:xfrm>
          <a:prstGeom prst="rect">
            <a:avLst/>
          </a:prstGeom>
        </p:spPr>
      </p:pic>
      <p:sp>
        <p:nvSpPr>
          <p:cNvPr id="6" name="Text 3"/>
          <p:cNvSpPr/>
          <p:nvPr/>
        </p:nvSpPr>
        <p:spPr>
          <a:xfrm>
            <a:off x="457200" y="4572000"/>
            <a:ext cx="8229600" cy="320040"/>
          </a:xfrm>
          <a:prstGeom prst="rect">
            <a:avLst/>
          </a:prstGeom>
          <a:noFill/>
          <a:ln/>
        </p:spPr>
        <p:txBody>
          <a:bodyPr wrap="square" rtlCol="0" anchor="ctr"/>
          <a:lstStyle/>
          <a:p>
            <a:pPr algn="ctr" indent="0" marL="0">
              <a:buNone/>
            </a:pPr>
            <a:r>
              <a:rPr lang="en-US" sz="1000" i="1" dirty="0">
                <a:solidFill>
                  <a:srgbClr val="6B7B8D"/>
                </a:solidFill>
                <a:latin typeface="Calibri" pitchFamily="34" charset="0"/>
                <a:ea typeface="Calibri" pitchFamily="34" charset="-122"/>
                <a:cs typeface="Calibri" pitchFamily="34" charset="-120"/>
              </a:rPr>
              <a:t>Raw packet data showing HTTP responses and outbound connections from the honeypot to attacker infrastructure</a:t>
            </a:r>
            <a:endParaRPr lang="en-US" sz="1000" dirty="0"/>
          </a:p>
        </p:txBody>
      </p:sp>
      <p:sp>
        <p:nvSpPr>
          <p:cNvPr id="7"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INITIAL RECONNAISSANCE</a:t>
            </a:r>
            <a:endParaRPr lang="en-US" sz="3200" dirty="0"/>
          </a:p>
        </p:txBody>
      </p:sp>
      <p:sp>
        <p:nvSpPr>
          <p:cNvPr id="3" name="Text 1"/>
          <p:cNvSpPr/>
          <p:nvPr/>
        </p:nvSpPr>
        <p:spPr>
          <a:xfrm>
            <a:off x="548640" y="777240"/>
            <a:ext cx="64008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Before the Vulnerable Services Were Even Deployed</a:t>
            </a:r>
            <a:endParaRPr lang="en-US" sz="1400" dirty="0"/>
          </a:p>
        </p:txBody>
      </p:sp>
      <p:sp>
        <p:nvSpPr>
          <p:cNvPr id="4" name="Shape 2"/>
          <p:cNvSpPr/>
          <p:nvPr/>
        </p:nvSpPr>
        <p:spPr>
          <a:xfrm>
            <a:off x="457200" y="1371600"/>
            <a:ext cx="3931920" cy="25603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371600"/>
            <a:ext cx="54864" cy="2560320"/>
          </a:xfrm>
          <a:prstGeom prst="rect">
            <a:avLst/>
          </a:prstGeom>
          <a:solidFill>
            <a:srgbClr val="FF6B6B"/>
          </a:solidFill>
          <a:ln/>
        </p:spPr>
      </p:sp>
      <p:sp>
        <p:nvSpPr>
          <p:cNvPr id="6" name="Text 4"/>
          <p:cNvSpPr/>
          <p:nvPr/>
        </p:nvSpPr>
        <p:spPr>
          <a:xfrm>
            <a:off x="731520" y="1463040"/>
            <a:ext cx="3474720" cy="320040"/>
          </a:xfrm>
          <a:prstGeom prst="rect">
            <a:avLst/>
          </a:prstGeom>
          <a:noFill/>
          <a:ln/>
        </p:spPr>
        <p:txBody>
          <a:bodyPr wrap="square" lIns="0" tIns="0" rIns="0" bIns="0" rtlCol="0" anchor="ctr"/>
          <a:lstStyle/>
          <a:p>
            <a:pPr indent="0" marL="0">
              <a:buNone/>
            </a:pPr>
            <a:r>
              <a:rPr lang="en-US" sz="1400" b="1" dirty="0">
                <a:solidFill>
                  <a:srgbClr val="FF6B6B"/>
                </a:solidFill>
                <a:latin typeface="Consolas" pitchFamily="34" charset="0"/>
                <a:ea typeface="Consolas" pitchFamily="34" charset="-122"/>
                <a:cs typeface="Consolas" pitchFamily="34" charset="-120"/>
              </a:rPr>
              <a:t>CVE-2021-41773 / CVE-2021-42013</a:t>
            </a:r>
            <a:endParaRPr lang="en-US" sz="1400" dirty="0"/>
          </a:p>
        </p:txBody>
      </p:sp>
      <p:sp>
        <p:nvSpPr>
          <p:cNvPr id="7" name="Text 5"/>
          <p:cNvSpPr/>
          <p:nvPr/>
        </p:nvSpPr>
        <p:spPr>
          <a:xfrm>
            <a:off x="731520" y="1783080"/>
            <a:ext cx="3474720" cy="2743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Apache Path Traversal</a:t>
            </a:r>
            <a:endParaRPr lang="en-US" sz="1200" dirty="0"/>
          </a:p>
        </p:txBody>
      </p:sp>
      <p:sp>
        <p:nvSpPr>
          <p:cNvPr id="8" name="Text 6"/>
          <p:cNvSpPr/>
          <p:nvPr/>
        </p:nvSpPr>
        <p:spPr>
          <a:xfrm>
            <a:off x="731520" y="2194560"/>
            <a:ext cx="3474720" cy="1645920"/>
          </a:xfrm>
          <a:prstGeom prst="rect">
            <a:avLst/>
          </a:prstGeom>
          <a:noFill/>
          <a:ln/>
        </p:spPr>
        <p:txBody>
          <a:bodyPr wrap="square" rtlCol="0" anchor="ctr"/>
          <a:lstStyle/>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Directory traversal using single-encoded (%2e) and double-encoded (%%32%65) paths</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Targeted /cgi-bin/../../bin/sh for remote shell access</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IPs from Paris, Barcelona, and other global locations</a:t>
            </a:r>
            <a:endParaRPr lang="en-US" sz="1100" dirty="0"/>
          </a:p>
          <a:p>
            <a:pPr marL="342900" indent="-342900">
              <a:spcAft>
                <a:spcPts val="600"/>
              </a:spcAft>
              <a:buSzPct val="100000"/>
              <a:buChar char="•"/>
            </a:pPr>
            <a:r>
              <a:rPr lang="en-US" sz="1100" dirty="0">
                <a:solidFill>
                  <a:srgbClr val="00D4AA"/>
                </a:solidFill>
                <a:latin typeface="Calibri" pitchFamily="34" charset="0"/>
                <a:ea typeface="Calibri" pitchFamily="34" charset="-122"/>
                <a:cs typeface="Calibri" pitchFamily="34" charset="-120"/>
              </a:rPr>
              <a:t>Apache 2.4.58 blocked all attempts (AH10244: invalid URI path)</a:t>
            </a:r>
            <a:endParaRPr lang="en-US" sz="1100" dirty="0"/>
          </a:p>
        </p:txBody>
      </p:sp>
      <p:sp>
        <p:nvSpPr>
          <p:cNvPr id="9" name="Shape 7"/>
          <p:cNvSpPr/>
          <p:nvPr/>
        </p:nvSpPr>
        <p:spPr>
          <a:xfrm>
            <a:off x="4754880" y="1371600"/>
            <a:ext cx="3931920" cy="25603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371600"/>
            <a:ext cx="54864" cy="2560320"/>
          </a:xfrm>
          <a:prstGeom prst="rect">
            <a:avLst/>
          </a:prstGeom>
          <a:solidFill>
            <a:srgbClr val="1E90FF"/>
          </a:solidFill>
          <a:ln/>
        </p:spPr>
      </p:sp>
      <p:pic>
        <p:nvPicPr>
          <p:cNvPr id="11" name="Image 0" descr="preencoded.png"/>
          <p:cNvPicPr>
            <a:picLocks noChangeAspect="1"/>
          </p:cNvPicPr>
          <p:nvPr/>
        </p:nvPicPr>
        <p:blipFill>
          <a:blip r:embed="rId1"/>
          <a:stretch>
            <a:fillRect/>
          </a:stretch>
        </p:blipFill>
        <p:spPr>
          <a:xfrm>
            <a:off x="6217920" y="1554480"/>
            <a:ext cx="640080" cy="640080"/>
          </a:xfrm>
          <a:prstGeom prst="rect">
            <a:avLst/>
          </a:prstGeom>
        </p:spPr>
      </p:pic>
      <p:sp>
        <p:nvSpPr>
          <p:cNvPr id="12" name="Text 9"/>
          <p:cNvSpPr/>
          <p:nvPr/>
        </p:nvSpPr>
        <p:spPr>
          <a:xfrm>
            <a:off x="5029200" y="2286000"/>
            <a:ext cx="3383280" cy="320040"/>
          </a:xfrm>
          <a:prstGeom prst="rect">
            <a:avLst/>
          </a:prstGeom>
          <a:noFill/>
          <a:ln/>
        </p:spPr>
        <p:txBody>
          <a:bodyPr wrap="square" lIns="0" tIns="0" rIns="0" bIns="0" rtlCol="0" anchor="ctr"/>
          <a:lstStyle/>
          <a:p>
            <a:pPr algn="ctr" indent="0" marL="0">
              <a:buNone/>
            </a:pPr>
            <a:r>
              <a:rPr lang="en-US" sz="1400" b="1" dirty="0">
                <a:solidFill>
                  <a:srgbClr val="1E90FF"/>
                </a:solidFill>
                <a:latin typeface="Calibri" pitchFamily="34" charset="0"/>
                <a:ea typeface="Calibri" pitchFamily="34" charset="-122"/>
                <a:cs typeface="Calibri" pitchFamily="34" charset="-120"/>
              </a:rPr>
              <a:t>KEY TAKEAWAY</a:t>
            </a:r>
            <a:endParaRPr lang="en-US" sz="1400" dirty="0"/>
          </a:p>
        </p:txBody>
      </p:sp>
      <p:sp>
        <p:nvSpPr>
          <p:cNvPr id="13" name="Text 10"/>
          <p:cNvSpPr/>
          <p:nvPr/>
        </p:nvSpPr>
        <p:spPr>
          <a:xfrm>
            <a:off x="5029200" y="2697480"/>
            <a:ext cx="3383280" cy="1097280"/>
          </a:xfrm>
          <a:prstGeom prst="rect">
            <a:avLst/>
          </a:prstGeom>
          <a:noFill/>
          <a:ln/>
        </p:spPr>
        <p:txBody>
          <a:bodyPr wrap="square" rtlCol="0" anchor="ctr"/>
          <a:lstStyle/>
          <a:p>
            <a:pPr algn="ctr" indent="0" marL="0">
              <a:buNone/>
            </a:pPr>
            <a:r>
              <a:rPr lang="en-US" sz="1300" dirty="0">
                <a:solidFill>
                  <a:srgbClr val="C8D6E5"/>
                </a:solidFill>
                <a:latin typeface="Calibri" pitchFamily="34" charset="0"/>
                <a:ea typeface="Calibri" pitchFamily="34" charset="-122"/>
                <a:cs typeface="Calibri" pitchFamily="34" charset="-120"/>
              </a:rPr>
              <a:t>Automated bots found and started probing the honeypot within hours of it going live — before any vulnerable services were even deployed.</a:t>
            </a:r>
            <a:endParaRPr lang="en-US" sz="1300" dirty="0"/>
          </a:p>
        </p:txBody>
      </p:sp>
      <p:sp>
        <p:nvSpPr>
          <p:cNvPr id="14" name="Text 1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3886200" y="731520"/>
            <a:ext cx="1371600" cy="1371600"/>
          </a:xfrm>
          <a:prstGeom prst="rect">
            <a:avLst/>
          </a:prstGeom>
        </p:spPr>
      </p:pic>
      <p:sp>
        <p:nvSpPr>
          <p:cNvPr id="3" name="Text 0"/>
          <p:cNvSpPr/>
          <p:nvPr/>
        </p:nvSpPr>
        <p:spPr>
          <a:xfrm>
            <a:off x="457200" y="2194560"/>
            <a:ext cx="8229600" cy="822960"/>
          </a:xfrm>
          <a:prstGeom prst="rect">
            <a:avLst/>
          </a:prstGeom>
          <a:noFill/>
          <a:ln/>
        </p:spPr>
        <p:txBody>
          <a:bodyPr wrap="square" rtlCol="0" anchor="ctr"/>
          <a:lstStyle/>
          <a:p>
            <a:pPr algn="ctr" indent="0" marL="0">
              <a:buNone/>
            </a:pPr>
            <a:r>
              <a:rPr lang="en-US" sz="4400" b="1" spc="500" kern="0" dirty="0">
                <a:solidFill>
                  <a:srgbClr val="FFFFFF"/>
                </a:solidFill>
                <a:latin typeface="Trebuchet MS" pitchFamily="34" charset="0"/>
                <a:ea typeface="Trebuchet MS" pitchFamily="34" charset="-122"/>
                <a:cs typeface="Trebuchet MS" pitchFamily="34" charset="-120"/>
              </a:rPr>
              <a:t>THE INFECTION CHAIN</a:t>
            </a:r>
            <a:endParaRPr lang="en-US" sz="4400" dirty="0"/>
          </a:p>
        </p:txBody>
      </p:sp>
      <p:sp>
        <p:nvSpPr>
          <p:cNvPr id="4" name="Text 1"/>
          <p:cNvSpPr/>
          <p:nvPr/>
        </p:nvSpPr>
        <p:spPr>
          <a:xfrm>
            <a:off x="914400" y="3017520"/>
            <a:ext cx="7315200" cy="457200"/>
          </a:xfrm>
          <a:prstGeom prst="rect">
            <a:avLst/>
          </a:prstGeom>
          <a:noFill/>
          <a:ln/>
        </p:spPr>
        <p:txBody>
          <a:bodyPr wrap="square" rtlCol="0" anchor="ctr"/>
          <a:lstStyle/>
          <a:p>
            <a:pPr algn="ctr" indent="0" marL="0">
              <a:buNone/>
            </a:pPr>
            <a:r>
              <a:rPr lang="en-US" sz="1800" i="1" dirty="0">
                <a:solidFill>
                  <a:srgbClr val="00D4AA"/>
                </a:solidFill>
                <a:latin typeface="Calibri" pitchFamily="34" charset="0"/>
                <a:ea typeface="Calibri" pitchFamily="34" charset="-122"/>
                <a:cs typeface="Calibri" pitchFamily="34" charset="-120"/>
              </a:rPr>
              <a:t>Two malware families. One honeypot. A Loader-as-a-Service delivery chain.</a:t>
            </a:r>
            <a:endParaRPr lang="en-US" sz="1800" dirty="0"/>
          </a:p>
        </p:txBody>
      </p:sp>
      <p:sp>
        <p:nvSpPr>
          <p:cNvPr id="5" name="Shape 2"/>
          <p:cNvSpPr/>
          <p:nvPr/>
        </p:nvSpPr>
        <p:spPr>
          <a:xfrm>
            <a:off x="1371600" y="3749040"/>
            <a:ext cx="2743200" cy="7315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6" name="Text 3"/>
          <p:cNvSpPr/>
          <p:nvPr/>
        </p:nvSpPr>
        <p:spPr>
          <a:xfrm>
            <a:off x="1371600" y="3749040"/>
            <a:ext cx="2743200" cy="365760"/>
          </a:xfrm>
          <a:prstGeom prst="rect">
            <a:avLst/>
          </a:prstGeom>
          <a:noFill/>
          <a:ln/>
        </p:spPr>
        <p:txBody>
          <a:bodyPr wrap="square" rtlCol="0" anchor="ctr"/>
          <a:lstStyle/>
          <a:p>
            <a:pPr algn="ctr" indent="0" marL="0">
              <a:buNone/>
            </a:pPr>
            <a:r>
              <a:rPr lang="en-US" sz="1800" b="1" dirty="0">
                <a:solidFill>
                  <a:srgbClr val="FF6B6B"/>
                </a:solidFill>
                <a:latin typeface="Trebuchet MS" pitchFamily="34" charset="0"/>
                <a:ea typeface="Trebuchet MS" pitchFamily="34" charset="-122"/>
                <a:cs typeface="Trebuchet MS" pitchFamily="34" charset="-120"/>
              </a:rPr>
              <a:t>KINSING</a:t>
            </a:r>
            <a:endParaRPr lang="en-US" sz="1800" dirty="0"/>
          </a:p>
        </p:txBody>
      </p:sp>
      <p:sp>
        <p:nvSpPr>
          <p:cNvPr id="7" name="Text 4"/>
          <p:cNvSpPr/>
          <p:nvPr/>
        </p:nvSpPr>
        <p:spPr>
          <a:xfrm>
            <a:off x="1371600" y="4114800"/>
            <a:ext cx="2743200" cy="320040"/>
          </a:xfrm>
          <a:prstGeom prst="rect">
            <a:avLst/>
          </a:prstGeom>
          <a:noFill/>
          <a:ln/>
        </p:spPr>
        <p:txBody>
          <a:bodyPr wrap="square"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Cryptominer + Rootkit</a:t>
            </a:r>
            <a:endParaRPr lang="en-US" sz="1200" dirty="0"/>
          </a:p>
        </p:txBody>
      </p:sp>
      <p:sp>
        <p:nvSpPr>
          <p:cNvPr id="8" name="Text 5"/>
          <p:cNvSpPr/>
          <p:nvPr/>
        </p:nvSpPr>
        <p:spPr>
          <a:xfrm>
            <a:off x="4114800" y="3840480"/>
            <a:ext cx="914400" cy="457200"/>
          </a:xfrm>
          <a:prstGeom prst="rect">
            <a:avLst/>
          </a:prstGeom>
          <a:noFill/>
          <a:ln/>
        </p:spPr>
        <p:txBody>
          <a:bodyPr wrap="square" rtlCol="0" anchor="ctr"/>
          <a:lstStyle/>
          <a:p>
            <a:pPr algn="ctr" indent="0" marL="0">
              <a:buNone/>
            </a:pPr>
            <a:r>
              <a:rPr lang="en-US" sz="2000" b="1" dirty="0">
                <a:solidFill>
                  <a:srgbClr val="00D4AA"/>
                </a:solidFill>
                <a:latin typeface="Trebuchet MS" pitchFamily="34" charset="0"/>
                <a:ea typeface="Trebuchet MS" pitchFamily="34" charset="-122"/>
                <a:cs typeface="Trebuchet MS" pitchFamily="34" charset="-120"/>
              </a:rPr>
              <a:t>→</a:t>
            </a:r>
            <a:endParaRPr lang="en-US" sz="2000" dirty="0"/>
          </a:p>
        </p:txBody>
      </p:sp>
      <p:sp>
        <p:nvSpPr>
          <p:cNvPr id="9" name="Shape 6"/>
          <p:cNvSpPr/>
          <p:nvPr/>
        </p:nvSpPr>
        <p:spPr>
          <a:xfrm>
            <a:off x="5029200" y="3749040"/>
            <a:ext cx="2743200" cy="7315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0" name="Text 7"/>
          <p:cNvSpPr/>
          <p:nvPr/>
        </p:nvSpPr>
        <p:spPr>
          <a:xfrm>
            <a:off x="5029200" y="3749040"/>
            <a:ext cx="2743200" cy="365760"/>
          </a:xfrm>
          <a:prstGeom prst="rect">
            <a:avLst/>
          </a:prstGeom>
          <a:noFill/>
          <a:ln/>
        </p:spPr>
        <p:txBody>
          <a:bodyPr wrap="square" rtlCol="0" anchor="ctr"/>
          <a:lstStyle/>
          <a:p>
            <a:pPr algn="ctr" indent="0" marL="0">
              <a:buNone/>
            </a:pPr>
            <a:r>
              <a:rPr lang="en-US" sz="1800" b="1" dirty="0">
                <a:solidFill>
                  <a:srgbClr val="1E90FF"/>
                </a:solidFill>
                <a:latin typeface="Trebuchet MS" pitchFamily="34" charset="0"/>
                <a:ea typeface="Trebuchet MS" pitchFamily="34" charset="-122"/>
                <a:cs typeface="Trebuchet MS" pitchFamily="34" charset="-120"/>
              </a:rPr>
              <a:t>RONDODOX</a:t>
            </a:r>
            <a:endParaRPr lang="en-US" sz="1800" dirty="0"/>
          </a:p>
        </p:txBody>
      </p:sp>
      <p:sp>
        <p:nvSpPr>
          <p:cNvPr id="11" name="Text 8"/>
          <p:cNvSpPr/>
          <p:nvPr/>
        </p:nvSpPr>
        <p:spPr>
          <a:xfrm>
            <a:off x="5029200" y="4114800"/>
            <a:ext cx="2743200" cy="320040"/>
          </a:xfrm>
          <a:prstGeom prst="rect">
            <a:avLst/>
          </a:prstGeom>
          <a:noFill/>
          <a:ln/>
        </p:spPr>
        <p:txBody>
          <a:bodyPr wrap="square"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DDoS Botnet (Mirai)</a:t>
            </a:r>
            <a:endParaRPr lang="en-US" sz="1200" dirty="0"/>
          </a:p>
        </p:txBody>
      </p:sp>
      <p:sp>
        <p:nvSpPr>
          <p:cNvPr id="12" name="Text 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6B6B"/>
                </a:solidFill>
                <a:latin typeface="Trebuchet MS" pitchFamily="34" charset="0"/>
                <a:ea typeface="Trebuchet MS" pitchFamily="34" charset="-122"/>
                <a:cs typeface="Trebuchet MS" pitchFamily="34" charset="-120"/>
              </a:rPr>
              <a:t>KINSING</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C8D6E5"/>
                </a:solidFill>
                <a:latin typeface="Calibri" pitchFamily="34" charset="0"/>
                <a:ea typeface="Calibri" pitchFamily="34" charset="-122"/>
                <a:cs typeface="Calibri" pitchFamily="34" charset="-120"/>
              </a:rPr>
              <a:t>Cryptominer  +  Backdoor  +  Worm</a:t>
            </a:r>
            <a:endParaRPr lang="en-US" sz="1400" dirty="0"/>
          </a:p>
        </p:txBody>
      </p:sp>
      <p:sp>
        <p:nvSpPr>
          <p:cNvPr id="4" name="Text 2"/>
          <p:cNvSpPr/>
          <p:nvPr/>
        </p:nvSpPr>
        <p:spPr>
          <a:xfrm>
            <a:off x="548640" y="1280160"/>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Language</a:t>
            </a:r>
            <a:endParaRPr lang="en-US" sz="1100" dirty="0"/>
          </a:p>
        </p:txBody>
      </p:sp>
      <p:sp>
        <p:nvSpPr>
          <p:cNvPr id="5" name="Text 3"/>
          <p:cNvSpPr/>
          <p:nvPr/>
        </p:nvSpPr>
        <p:spPr>
          <a:xfrm>
            <a:off x="2286000" y="1280160"/>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Go (Golang)</a:t>
            </a:r>
            <a:endParaRPr lang="en-US" sz="1100" dirty="0"/>
          </a:p>
        </p:txBody>
      </p:sp>
      <p:sp>
        <p:nvSpPr>
          <p:cNvPr id="6" name="Shape 4"/>
          <p:cNvSpPr/>
          <p:nvPr/>
        </p:nvSpPr>
        <p:spPr>
          <a:xfrm>
            <a:off x="548640" y="1691640"/>
            <a:ext cx="4114800" cy="0"/>
          </a:xfrm>
          <a:prstGeom prst="line">
            <a:avLst/>
          </a:prstGeom>
          <a:noFill/>
          <a:ln w="6350">
            <a:solidFill>
              <a:srgbClr val="1E3A5F"/>
            </a:solidFill>
            <a:prstDash val="solid"/>
          </a:ln>
        </p:spPr>
      </p:sp>
      <p:sp>
        <p:nvSpPr>
          <p:cNvPr id="7" name="Text 5"/>
          <p:cNvSpPr/>
          <p:nvPr/>
        </p:nvSpPr>
        <p:spPr>
          <a:xfrm>
            <a:off x="548640" y="1755648"/>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Payload</a:t>
            </a:r>
            <a:endParaRPr lang="en-US" sz="1100" dirty="0"/>
          </a:p>
        </p:txBody>
      </p:sp>
      <p:sp>
        <p:nvSpPr>
          <p:cNvPr id="8" name="Text 6"/>
          <p:cNvSpPr/>
          <p:nvPr/>
        </p:nvSpPr>
        <p:spPr>
          <a:xfrm>
            <a:off x="2286000" y="1755648"/>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XMRig Monero Miner + Reverse Shell</a:t>
            </a:r>
            <a:endParaRPr lang="en-US" sz="1100" dirty="0"/>
          </a:p>
        </p:txBody>
      </p:sp>
      <p:sp>
        <p:nvSpPr>
          <p:cNvPr id="9" name="Shape 7"/>
          <p:cNvSpPr/>
          <p:nvPr/>
        </p:nvSpPr>
        <p:spPr>
          <a:xfrm>
            <a:off x="548640" y="2167128"/>
            <a:ext cx="4114800" cy="0"/>
          </a:xfrm>
          <a:prstGeom prst="line">
            <a:avLst/>
          </a:prstGeom>
          <a:noFill/>
          <a:ln w="6350">
            <a:solidFill>
              <a:srgbClr val="1E3A5F"/>
            </a:solidFill>
            <a:prstDash val="solid"/>
          </a:ln>
        </p:spPr>
      </p:sp>
      <p:sp>
        <p:nvSpPr>
          <p:cNvPr id="10" name="Text 8"/>
          <p:cNvSpPr/>
          <p:nvPr/>
        </p:nvSpPr>
        <p:spPr>
          <a:xfrm>
            <a:off x="548640" y="2231136"/>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Persistence</a:t>
            </a:r>
            <a:endParaRPr lang="en-US" sz="1100" dirty="0"/>
          </a:p>
        </p:txBody>
      </p:sp>
      <p:sp>
        <p:nvSpPr>
          <p:cNvPr id="11" name="Text 9"/>
          <p:cNvSpPr/>
          <p:nvPr/>
        </p:nvSpPr>
        <p:spPr>
          <a:xfrm>
            <a:off x="2286000" y="2231136"/>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Cron jobs, /etc/ld.so.preload rootkit</a:t>
            </a:r>
            <a:endParaRPr lang="en-US" sz="1100" dirty="0"/>
          </a:p>
        </p:txBody>
      </p:sp>
      <p:sp>
        <p:nvSpPr>
          <p:cNvPr id="12" name="Shape 10"/>
          <p:cNvSpPr/>
          <p:nvPr/>
        </p:nvSpPr>
        <p:spPr>
          <a:xfrm>
            <a:off x="548640" y="2642616"/>
            <a:ext cx="4114800" cy="0"/>
          </a:xfrm>
          <a:prstGeom prst="line">
            <a:avLst/>
          </a:prstGeom>
          <a:noFill/>
          <a:ln w="6350">
            <a:solidFill>
              <a:srgbClr val="1E3A5F"/>
            </a:solidFill>
            <a:prstDash val="solid"/>
          </a:ln>
        </p:spPr>
      </p:sp>
      <p:sp>
        <p:nvSpPr>
          <p:cNvPr id="13" name="Text 11"/>
          <p:cNvSpPr/>
          <p:nvPr/>
        </p:nvSpPr>
        <p:spPr>
          <a:xfrm>
            <a:off x="548640" y="2706624"/>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C2 Protocol</a:t>
            </a:r>
            <a:endParaRPr lang="en-US" sz="1100" dirty="0"/>
          </a:p>
        </p:txBody>
      </p:sp>
      <p:sp>
        <p:nvSpPr>
          <p:cNvPr id="14" name="Text 12"/>
          <p:cNvSpPr/>
          <p:nvPr/>
        </p:nvSpPr>
        <p:spPr>
          <a:xfrm>
            <a:off x="2286000" y="2706624"/>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HTTP / HTTPS</a:t>
            </a:r>
            <a:endParaRPr lang="en-US" sz="1100" dirty="0"/>
          </a:p>
        </p:txBody>
      </p:sp>
      <p:sp>
        <p:nvSpPr>
          <p:cNvPr id="15" name="Shape 13"/>
          <p:cNvSpPr/>
          <p:nvPr/>
        </p:nvSpPr>
        <p:spPr>
          <a:xfrm>
            <a:off x="548640" y="3118104"/>
            <a:ext cx="4114800" cy="0"/>
          </a:xfrm>
          <a:prstGeom prst="line">
            <a:avLst/>
          </a:prstGeom>
          <a:noFill/>
          <a:ln w="6350">
            <a:solidFill>
              <a:srgbClr val="1E3A5F"/>
            </a:solidFill>
            <a:prstDash val="solid"/>
          </a:ln>
        </p:spPr>
      </p:sp>
      <p:sp>
        <p:nvSpPr>
          <p:cNvPr id="16" name="Text 14"/>
          <p:cNvSpPr/>
          <p:nvPr/>
        </p:nvSpPr>
        <p:spPr>
          <a:xfrm>
            <a:off x="548640" y="3182112"/>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Drop Locations</a:t>
            </a:r>
            <a:endParaRPr lang="en-US" sz="1100" dirty="0"/>
          </a:p>
        </p:txBody>
      </p:sp>
      <p:sp>
        <p:nvSpPr>
          <p:cNvPr id="17" name="Text 15"/>
          <p:cNvSpPr/>
          <p:nvPr/>
        </p:nvSpPr>
        <p:spPr>
          <a:xfrm>
            <a:off x="2286000" y="3182112"/>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/tmp/, /var/tmp/, /dev/shm/</a:t>
            </a:r>
            <a:endParaRPr lang="en-US" sz="1100" dirty="0"/>
          </a:p>
        </p:txBody>
      </p:sp>
      <p:sp>
        <p:nvSpPr>
          <p:cNvPr id="18" name="Shape 16"/>
          <p:cNvSpPr/>
          <p:nvPr/>
        </p:nvSpPr>
        <p:spPr>
          <a:xfrm>
            <a:off x="548640" y="3593592"/>
            <a:ext cx="4114800" cy="0"/>
          </a:xfrm>
          <a:prstGeom prst="line">
            <a:avLst/>
          </a:prstGeom>
          <a:noFill/>
          <a:ln w="6350">
            <a:solidFill>
              <a:srgbClr val="1E3A5F"/>
            </a:solidFill>
            <a:prstDash val="solid"/>
          </a:ln>
        </p:spPr>
      </p:sp>
      <p:sp>
        <p:nvSpPr>
          <p:cNvPr id="19" name="Text 17"/>
          <p:cNvSpPr/>
          <p:nvPr/>
        </p:nvSpPr>
        <p:spPr>
          <a:xfrm>
            <a:off x="548640" y="3657600"/>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Filenames</a:t>
            </a:r>
            <a:endParaRPr lang="en-US" sz="1100" dirty="0"/>
          </a:p>
        </p:txBody>
      </p:sp>
      <p:sp>
        <p:nvSpPr>
          <p:cNvPr id="20" name="Text 18"/>
          <p:cNvSpPr/>
          <p:nvPr/>
        </p:nvSpPr>
        <p:spPr>
          <a:xfrm>
            <a:off x="2286000" y="3657600"/>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kinsing, kdevtmpfsi</a:t>
            </a:r>
            <a:endParaRPr lang="en-US" sz="1100" dirty="0"/>
          </a:p>
        </p:txBody>
      </p:sp>
      <p:sp>
        <p:nvSpPr>
          <p:cNvPr id="21" name="Shape 19"/>
          <p:cNvSpPr/>
          <p:nvPr/>
        </p:nvSpPr>
        <p:spPr>
          <a:xfrm>
            <a:off x="548640" y="4069080"/>
            <a:ext cx="4114800" cy="0"/>
          </a:xfrm>
          <a:prstGeom prst="line">
            <a:avLst/>
          </a:prstGeom>
          <a:noFill/>
          <a:ln w="6350">
            <a:solidFill>
              <a:srgbClr val="1E3A5F"/>
            </a:solidFill>
            <a:prstDash val="solid"/>
          </a:ln>
        </p:spPr>
      </p:sp>
      <p:sp>
        <p:nvSpPr>
          <p:cNvPr id="22" name="Text 20"/>
          <p:cNvSpPr/>
          <p:nvPr/>
        </p:nvSpPr>
        <p:spPr>
          <a:xfrm>
            <a:off x="548640" y="4133088"/>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Behavior</a:t>
            </a:r>
            <a:endParaRPr lang="en-US" sz="1100" dirty="0"/>
          </a:p>
        </p:txBody>
      </p:sp>
      <p:sp>
        <p:nvSpPr>
          <p:cNvPr id="23" name="Text 21"/>
          <p:cNvSpPr/>
          <p:nvPr/>
        </p:nvSpPr>
        <p:spPr>
          <a:xfrm>
            <a:off x="2286000" y="4133088"/>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Kills competing processes to protect mining resources — standard crypto-malware behavior</a:t>
            </a:r>
            <a:endParaRPr lang="en-US" sz="1100" dirty="0"/>
          </a:p>
        </p:txBody>
      </p:sp>
      <p:sp>
        <p:nvSpPr>
          <p:cNvPr id="24" name="Shape 22"/>
          <p:cNvSpPr/>
          <p:nvPr/>
        </p:nvSpPr>
        <p:spPr>
          <a:xfrm>
            <a:off x="5029200" y="1280160"/>
            <a:ext cx="3657600" cy="338328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5" name="Shape 23"/>
          <p:cNvSpPr/>
          <p:nvPr/>
        </p:nvSpPr>
        <p:spPr>
          <a:xfrm>
            <a:off x="5029200" y="1280160"/>
            <a:ext cx="54864" cy="3383280"/>
          </a:xfrm>
          <a:prstGeom prst="rect">
            <a:avLst/>
          </a:prstGeom>
          <a:solidFill>
            <a:srgbClr val="FF6B6B"/>
          </a:solidFill>
          <a:ln/>
        </p:spPr>
      </p:sp>
      <p:sp>
        <p:nvSpPr>
          <p:cNvPr id="26" name="Text 24"/>
          <p:cNvSpPr/>
          <p:nvPr/>
        </p:nvSpPr>
        <p:spPr>
          <a:xfrm>
            <a:off x="5303520" y="1371600"/>
            <a:ext cx="320040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Known CVE Vectors</a:t>
            </a:r>
            <a:endParaRPr lang="en-US" sz="1400" dirty="0"/>
          </a:p>
        </p:txBody>
      </p:sp>
      <p:sp>
        <p:nvSpPr>
          <p:cNvPr id="27" name="Text 25"/>
          <p:cNvSpPr/>
          <p:nvPr/>
        </p:nvSpPr>
        <p:spPr>
          <a:xfrm>
            <a:off x="5303520" y="1828800"/>
            <a:ext cx="3200400" cy="2286000"/>
          </a:xfrm>
          <a:prstGeom prst="rect">
            <a:avLst/>
          </a:prstGeom>
          <a:noFill/>
          <a:ln/>
        </p:spPr>
        <p:txBody>
          <a:bodyPr wrap="square" rtlCol="0" anchor="ctr"/>
          <a:lstStyle/>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CVE-2021-41773  (Apache Path Traversal)</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CVE-2023-46604  (ActiveMQ RCE)</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Log4Shell  (Log4j RCE)</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CVE-2022-0543  (Redis Lua Sandbox Escape)</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Exposed Docker API</a:t>
            </a:r>
            <a:endParaRPr lang="en-US" sz="1100" dirty="0"/>
          </a:p>
        </p:txBody>
      </p:sp>
      <p:sp>
        <p:nvSpPr>
          <p:cNvPr id="28" name="Shape 26"/>
          <p:cNvSpPr/>
          <p:nvPr/>
        </p:nvSpPr>
        <p:spPr>
          <a:xfrm>
            <a:off x="5029200" y="3931920"/>
            <a:ext cx="3657600" cy="640080"/>
          </a:xfrm>
          <a:prstGeom prst="rect">
            <a:avLst/>
          </a:prstGeom>
          <a:solidFill>
            <a:srgbClr val="1A1210"/>
          </a:solidFill>
          <a:ln/>
          <a:effectLst>
            <a:outerShdw sx="100000" sy="100000" kx="0" ky="0" algn="bl" rotWithShape="0" blurRad="76200" dist="25400" dir="8100000">
              <a:srgbClr val="000000">
                <a:alpha val="20000"/>
              </a:srgbClr>
            </a:outerShdw>
          </a:effectLst>
        </p:spPr>
      </p:sp>
      <p:sp>
        <p:nvSpPr>
          <p:cNvPr id="29" name="Text 27"/>
          <p:cNvSpPr/>
          <p:nvPr/>
        </p:nvSpPr>
        <p:spPr>
          <a:xfrm>
            <a:off x="5212080" y="3977640"/>
            <a:ext cx="3291840" cy="502920"/>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Successfully defanged and exfiltrated payload + libsystem.so rootkit</a:t>
            </a:r>
            <a:endParaRPr lang="en-US" sz="1100" dirty="0"/>
          </a:p>
        </p:txBody>
      </p:sp>
      <p:sp>
        <p:nvSpPr>
          <p:cNvPr id="30" name="Text 2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182880"/>
            <a:ext cx="7315200" cy="548640"/>
          </a:xfrm>
          <a:prstGeom prst="rect">
            <a:avLst/>
          </a:prstGeom>
          <a:noFill/>
          <a:ln/>
        </p:spPr>
        <p:txBody>
          <a:bodyPr wrap="square" rtlCol="0" anchor="ctr"/>
          <a:lstStyle/>
          <a:p>
            <a:pPr indent="0" marL="0">
              <a:buNone/>
            </a:pPr>
            <a:r>
              <a:rPr lang="en-US" sz="2800" b="1" dirty="0">
                <a:solidFill>
                  <a:srgbClr val="FF6B6B"/>
                </a:solidFill>
                <a:latin typeface="Trebuchet MS" pitchFamily="34" charset="0"/>
                <a:ea typeface="Trebuchet MS" pitchFamily="34" charset="-122"/>
                <a:cs typeface="Trebuchet MS" pitchFamily="34" charset="-120"/>
              </a:rPr>
              <a:t>KINSING — LIVE EVIDENCE</a:t>
            </a:r>
            <a:endParaRPr lang="en-US" sz="2800" dirty="0"/>
          </a:p>
        </p:txBody>
      </p:sp>
      <p:sp>
        <p:nvSpPr>
          <p:cNvPr id="3" name="Shape 1"/>
          <p:cNvSpPr/>
          <p:nvPr/>
        </p:nvSpPr>
        <p:spPr>
          <a:xfrm>
            <a:off x="274320" y="822960"/>
            <a:ext cx="4206240" cy="150876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4" name="Image 0" descr="/sessions/funny-elegant-cori/mnt/presentation/Screenshot 2026-03-13 011320.png"/>
          <p:cNvPicPr>
            <a:picLocks noChangeAspect="1"/>
          </p:cNvPicPr>
          <p:nvPr/>
        </p:nvPicPr>
        <p:blipFill>
          <a:blip r:embed="rId1"/>
          <a:stretch>
            <a:fillRect/>
          </a:stretch>
        </p:blipFill>
        <p:spPr>
          <a:xfrm>
            <a:off x="320040" y="868680"/>
            <a:ext cx="4114800" cy="1417320"/>
          </a:xfrm>
          <a:prstGeom prst="rect">
            <a:avLst/>
          </a:prstGeom>
        </p:spPr>
      </p:pic>
      <p:sp>
        <p:nvSpPr>
          <p:cNvPr id="5" name="Text 2"/>
          <p:cNvSpPr/>
          <p:nvPr/>
        </p:nvSpPr>
        <p:spPr>
          <a:xfrm>
            <a:off x="274320" y="23591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lsof — kdevtmpfsi running as root, deleted temp files</a:t>
            </a:r>
            <a:endParaRPr lang="en-US" sz="800" dirty="0"/>
          </a:p>
        </p:txBody>
      </p:sp>
      <p:sp>
        <p:nvSpPr>
          <p:cNvPr id="6" name="Shape 3"/>
          <p:cNvSpPr/>
          <p:nvPr/>
        </p:nvSpPr>
        <p:spPr>
          <a:xfrm>
            <a:off x="4663440" y="822960"/>
            <a:ext cx="4206240" cy="150876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7" name="Image 1" descr="/sessions/funny-elegant-cori/mnt/presentation/Screenshot 2026-03-13 011345.png"/>
          <p:cNvPicPr>
            <a:picLocks noChangeAspect="1"/>
          </p:cNvPicPr>
          <p:nvPr/>
        </p:nvPicPr>
        <p:blipFill>
          <a:blip r:embed="rId2"/>
          <a:stretch>
            <a:fillRect/>
          </a:stretch>
        </p:blipFill>
        <p:spPr>
          <a:xfrm>
            <a:off x="4709160" y="868680"/>
            <a:ext cx="4114800" cy="1417320"/>
          </a:xfrm>
          <a:prstGeom prst="rect">
            <a:avLst/>
          </a:prstGeom>
        </p:spPr>
      </p:pic>
      <p:sp>
        <p:nvSpPr>
          <p:cNvPr id="8" name="Text 4"/>
          <p:cNvSpPr/>
          <p:nvPr/>
        </p:nvSpPr>
        <p:spPr>
          <a:xfrm>
            <a:off x="4663440" y="23591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Cron, shell, wget — persistence in /tmp/</a:t>
            </a:r>
            <a:endParaRPr lang="en-US" sz="800" dirty="0"/>
          </a:p>
        </p:txBody>
      </p:sp>
      <p:sp>
        <p:nvSpPr>
          <p:cNvPr id="9" name="Shape 5"/>
          <p:cNvSpPr/>
          <p:nvPr/>
        </p:nvSpPr>
        <p:spPr>
          <a:xfrm>
            <a:off x="2948940" y="2697480"/>
            <a:ext cx="3246120" cy="269748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10" name="Image 2" descr="/sessions/funny-elegant-cori/mnt/presentation/Terminal 1.png"/>
          <p:cNvPicPr>
            <a:picLocks noChangeAspect="1"/>
          </p:cNvPicPr>
          <p:nvPr/>
        </p:nvPicPr>
        <p:blipFill>
          <a:blip r:embed="rId3"/>
          <a:stretch>
            <a:fillRect/>
          </a:stretch>
        </p:blipFill>
        <p:spPr>
          <a:xfrm>
            <a:off x="2994660" y="2743200"/>
            <a:ext cx="3154680" cy="2606040"/>
          </a:xfrm>
          <a:prstGeom prst="rect">
            <a:avLst/>
          </a:prstGeom>
        </p:spPr>
      </p:pic>
      <p:sp>
        <p:nvSpPr>
          <p:cNvPr id="11" name="Text 6"/>
          <p:cNvSpPr/>
          <p:nvPr/>
        </p:nvSpPr>
        <p:spPr>
          <a:xfrm>
            <a:off x="274320" y="4919472"/>
            <a:ext cx="8595360" cy="182880"/>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Safe exfiltration — kinsing binary + libsystem.so rootkit from /etc/data</a:t>
            </a:r>
            <a:endParaRPr lang="en-US" sz="800" dirty="0"/>
          </a:p>
        </p:txBody>
      </p:sp>
      <p:sp>
        <p:nvSpPr>
          <p:cNvPr id="12"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1E90FF"/>
                </a:solidFill>
                <a:latin typeface="Trebuchet MS" pitchFamily="34" charset="0"/>
                <a:ea typeface="Trebuchet MS" pitchFamily="34" charset="-122"/>
                <a:cs typeface="Trebuchet MS" pitchFamily="34" charset="-120"/>
              </a:rPr>
              <a:t>RONDODOX</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C8D6E5"/>
                </a:solidFill>
                <a:latin typeface="Calibri" pitchFamily="34" charset="0"/>
                <a:ea typeface="Calibri" pitchFamily="34" charset="-122"/>
                <a:cs typeface="Calibri" pitchFamily="34" charset="-120"/>
              </a:rPr>
              <a:t>DDoS Botnet  —  Mirai Lineage</a:t>
            </a:r>
            <a:endParaRPr lang="en-US" sz="1400" dirty="0"/>
          </a:p>
        </p:txBody>
      </p:sp>
      <p:sp>
        <p:nvSpPr>
          <p:cNvPr id="4" name="Text 2"/>
          <p:cNvSpPr/>
          <p:nvPr/>
        </p:nvSpPr>
        <p:spPr>
          <a:xfrm>
            <a:off x="548640" y="128016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C2 Obfuscation</a:t>
            </a:r>
            <a:endParaRPr lang="en-US" sz="1100" dirty="0"/>
          </a:p>
        </p:txBody>
      </p:sp>
      <p:sp>
        <p:nvSpPr>
          <p:cNvPr id="5" name="Text 3"/>
          <p:cNvSpPr/>
          <p:nvPr/>
        </p:nvSpPr>
        <p:spPr>
          <a:xfrm>
            <a:off x="2468880" y="128016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XOR encoding with key 0x21</a:t>
            </a:r>
            <a:endParaRPr lang="en-US" sz="1100" dirty="0"/>
          </a:p>
        </p:txBody>
      </p:sp>
      <p:sp>
        <p:nvSpPr>
          <p:cNvPr id="6" name="Shape 4"/>
          <p:cNvSpPr/>
          <p:nvPr/>
        </p:nvSpPr>
        <p:spPr>
          <a:xfrm>
            <a:off x="548640" y="1719072"/>
            <a:ext cx="4114800" cy="0"/>
          </a:xfrm>
          <a:prstGeom prst="line">
            <a:avLst/>
          </a:prstGeom>
          <a:noFill/>
          <a:ln w="6350">
            <a:solidFill>
              <a:srgbClr val="1E3A5F"/>
            </a:solidFill>
            <a:prstDash val="solid"/>
          </a:ln>
        </p:spPr>
      </p:sp>
      <p:sp>
        <p:nvSpPr>
          <p:cNvPr id="7" name="Text 5"/>
          <p:cNvSpPr/>
          <p:nvPr/>
        </p:nvSpPr>
        <p:spPr>
          <a:xfrm>
            <a:off x="548640" y="178308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Beacon Interval</a:t>
            </a:r>
            <a:endParaRPr lang="en-US" sz="1100" dirty="0"/>
          </a:p>
        </p:txBody>
      </p:sp>
      <p:sp>
        <p:nvSpPr>
          <p:cNvPr id="8" name="Text 6"/>
          <p:cNvSpPr/>
          <p:nvPr/>
        </p:nvSpPr>
        <p:spPr>
          <a:xfrm>
            <a:off x="2468880" y="178308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Every 5 minutes</a:t>
            </a:r>
            <a:endParaRPr lang="en-US" sz="1100" dirty="0"/>
          </a:p>
        </p:txBody>
      </p:sp>
      <p:sp>
        <p:nvSpPr>
          <p:cNvPr id="9" name="Shape 7"/>
          <p:cNvSpPr/>
          <p:nvPr/>
        </p:nvSpPr>
        <p:spPr>
          <a:xfrm>
            <a:off x="548640" y="2221992"/>
            <a:ext cx="4114800" cy="0"/>
          </a:xfrm>
          <a:prstGeom prst="line">
            <a:avLst/>
          </a:prstGeom>
          <a:noFill/>
          <a:ln w="6350">
            <a:solidFill>
              <a:srgbClr val="1E3A5F"/>
            </a:solidFill>
            <a:prstDash val="solid"/>
          </a:ln>
        </p:spPr>
      </p:sp>
      <p:sp>
        <p:nvSpPr>
          <p:cNvPr id="10" name="Text 8"/>
          <p:cNvSpPr/>
          <p:nvPr/>
        </p:nvSpPr>
        <p:spPr>
          <a:xfrm>
            <a:off x="548640" y="228600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C2 Architecture</a:t>
            </a:r>
            <a:endParaRPr lang="en-US" sz="1100" dirty="0"/>
          </a:p>
        </p:txBody>
      </p:sp>
      <p:sp>
        <p:nvSpPr>
          <p:cNvPr id="11" name="Text 9"/>
          <p:cNvSpPr/>
          <p:nvPr/>
        </p:nvSpPr>
        <p:spPr>
          <a:xfrm>
            <a:off x="2468880" y="228600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Dual C2 endpoints</a:t>
            </a:r>
            <a:endParaRPr lang="en-US" sz="1100" dirty="0"/>
          </a:p>
        </p:txBody>
      </p:sp>
      <p:sp>
        <p:nvSpPr>
          <p:cNvPr id="12" name="Shape 10"/>
          <p:cNvSpPr/>
          <p:nvPr/>
        </p:nvSpPr>
        <p:spPr>
          <a:xfrm>
            <a:off x="548640" y="2724912"/>
            <a:ext cx="4114800" cy="0"/>
          </a:xfrm>
          <a:prstGeom prst="line">
            <a:avLst/>
          </a:prstGeom>
          <a:noFill/>
          <a:ln w="6350">
            <a:solidFill>
              <a:srgbClr val="1E3A5F"/>
            </a:solidFill>
            <a:prstDash val="solid"/>
          </a:ln>
        </p:spPr>
      </p:sp>
      <p:sp>
        <p:nvSpPr>
          <p:cNvPr id="13" name="Text 11"/>
          <p:cNvSpPr/>
          <p:nvPr/>
        </p:nvSpPr>
        <p:spPr>
          <a:xfrm>
            <a:off x="548640" y="278892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Evasion</a:t>
            </a:r>
            <a:endParaRPr lang="en-US" sz="1100" dirty="0"/>
          </a:p>
        </p:txBody>
      </p:sp>
      <p:sp>
        <p:nvSpPr>
          <p:cNvPr id="14" name="Text 12"/>
          <p:cNvSpPr/>
          <p:nvPr/>
        </p:nvSpPr>
        <p:spPr>
          <a:xfrm>
            <a:off x="2468880" y="278892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Masquerades as gaming/VPN/chat traffic</a:t>
            </a:r>
            <a:endParaRPr lang="en-US" sz="1100" dirty="0"/>
          </a:p>
        </p:txBody>
      </p:sp>
      <p:sp>
        <p:nvSpPr>
          <p:cNvPr id="15" name="Shape 13"/>
          <p:cNvSpPr/>
          <p:nvPr/>
        </p:nvSpPr>
        <p:spPr>
          <a:xfrm>
            <a:off x="548640" y="3227832"/>
            <a:ext cx="4114800" cy="0"/>
          </a:xfrm>
          <a:prstGeom prst="line">
            <a:avLst/>
          </a:prstGeom>
          <a:noFill/>
          <a:ln w="6350">
            <a:solidFill>
              <a:srgbClr val="1E3A5F"/>
            </a:solidFill>
            <a:prstDash val="solid"/>
          </a:ln>
        </p:spPr>
      </p:sp>
      <p:sp>
        <p:nvSpPr>
          <p:cNvPr id="16" name="Text 14"/>
          <p:cNvSpPr/>
          <p:nvPr/>
        </p:nvSpPr>
        <p:spPr>
          <a:xfrm>
            <a:off x="548640" y="329184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Binary</a:t>
            </a:r>
            <a:endParaRPr lang="en-US" sz="1100" dirty="0"/>
          </a:p>
        </p:txBody>
      </p:sp>
      <p:sp>
        <p:nvSpPr>
          <p:cNvPr id="17" name="Text 15"/>
          <p:cNvSpPr/>
          <p:nvPr/>
        </p:nvSpPr>
        <p:spPr>
          <a:xfrm>
            <a:off x="2468880" y="329184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Statically linked C (carries own libc)</a:t>
            </a:r>
            <a:endParaRPr lang="en-US" sz="1100" dirty="0"/>
          </a:p>
        </p:txBody>
      </p:sp>
      <p:sp>
        <p:nvSpPr>
          <p:cNvPr id="18" name="Shape 16"/>
          <p:cNvSpPr/>
          <p:nvPr/>
        </p:nvSpPr>
        <p:spPr>
          <a:xfrm>
            <a:off x="548640" y="3730752"/>
            <a:ext cx="4114800" cy="0"/>
          </a:xfrm>
          <a:prstGeom prst="line">
            <a:avLst/>
          </a:prstGeom>
          <a:noFill/>
          <a:ln w="6350">
            <a:solidFill>
              <a:srgbClr val="1E3A5F"/>
            </a:solidFill>
            <a:prstDash val="solid"/>
          </a:ln>
        </p:spPr>
      </p:sp>
      <p:sp>
        <p:nvSpPr>
          <p:cNvPr id="19" name="Text 17"/>
          <p:cNvSpPr/>
          <p:nvPr/>
        </p:nvSpPr>
        <p:spPr>
          <a:xfrm>
            <a:off x="548640" y="379476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Behavior</a:t>
            </a:r>
            <a:endParaRPr lang="en-US" sz="1100" dirty="0"/>
          </a:p>
        </p:txBody>
      </p:sp>
      <p:sp>
        <p:nvSpPr>
          <p:cNvPr id="20" name="Text 18"/>
          <p:cNvSpPr/>
          <p:nvPr/>
        </p:nvSpPr>
        <p:spPr>
          <a:xfrm>
            <a:off x="2468880" y="379476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Scans for and terminates rival processes — standard botnet resource protection</a:t>
            </a:r>
            <a:endParaRPr lang="en-US" sz="1100" dirty="0"/>
          </a:p>
        </p:txBody>
      </p:sp>
      <p:sp>
        <p:nvSpPr>
          <p:cNvPr id="21" name="Shape 19"/>
          <p:cNvSpPr/>
          <p:nvPr/>
        </p:nvSpPr>
        <p:spPr>
          <a:xfrm>
            <a:off x="4846320" y="1188720"/>
            <a:ext cx="3931920" cy="146304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22" name="Image 0" descr="/sessions/funny-elegant-cori/mnt/presentation/dleted-rondodox.png"/>
          <p:cNvPicPr>
            <a:picLocks noChangeAspect="1"/>
          </p:cNvPicPr>
          <p:nvPr/>
        </p:nvPicPr>
        <p:blipFill>
          <a:blip r:embed="rId1"/>
          <a:stretch>
            <a:fillRect/>
          </a:stretch>
        </p:blipFill>
        <p:spPr>
          <a:xfrm>
            <a:off x="4937760" y="1280160"/>
            <a:ext cx="3749040" cy="1280160"/>
          </a:xfrm>
          <a:prstGeom prst="rect">
            <a:avLst/>
          </a:prstGeom>
        </p:spPr>
      </p:pic>
      <p:sp>
        <p:nvSpPr>
          <p:cNvPr id="23" name="Text 20"/>
          <p:cNvSpPr/>
          <p:nvPr/>
        </p:nvSpPr>
        <p:spPr>
          <a:xfrm>
            <a:off x="4846320" y="2697480"/>
            <a:ext cx="3931920" cy="274320"/>
          </a:xfrm>
          <a:prstGeom prst="rect">
            <a:avLst/>
          </a:prstGeom>
          <a:noFill/>
          <a:ln/>
        </p:spPr>
        <p:txBody>
          <a:bodyPr wrap="square" rtlCol="0" anchor="ctr"/>
          <a:lstStyle/>
          <a:p>
            <a:pPr algn="ctr" indent="0" marL="0">
              <a:buNone/>
            </a:pPr>
            <a:r>
              <a:rPr lang="en-US" sz="900" i="1" dirty="0">
                <a:solidFill>
                  <a:srgbClr val="6B7B8D"/>
                </a:solidFill>
                <a:latin typeface="Calibri" pitchFamily="34" charset="0"/>
                <a:ea typeface="Calibri" pitchFamily="34" charset="-122"/>
                <a:cs typeface="Calibri" pitchFamily="34" charset="-120"/>
              </a:rPr>
              <a:t>Deleted RondoDox processes (cpyobmns) still running in memory</a:t>
            </a:r>
            <a:endParaRPr lang="en-US" sz="900" dirty="0"/>
          </a:p>
        </p:txBody>
      </p:sp>
      <p:sp>
        <p:nvSpPr>
          <p:cNvPr id="24" name="Shape 21"/>
          <p:cNvSpPr/>
          <p:nvPr/>
        </p:nvSpPr>
        <p:spPr>
          <a:xfrm>
            <a:off x="4846320" y="3200400"/>
            <a:ext cx="3931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5" name="Shape 22"/>
          <p:cNvSpPr/>
          <p:nvPr/>
        </p:nvSpPr>
        <p:spPr>
          <a:xfrm>
            <a:off x="4846320" y="3200400"/>
            <a:ext cx="54864" cy="1371600"/>
          </a:xfrm>
          <a:prstGeom prst="rect">
            <a:avLst/>
          </a:prstGeom>
          <a:solidFill>
            <a:srgbClr val="1E90FF"/>
          </a:solidFill>
          <a:ln/>
        </p:spPr>
      </p:sp>
      <p:sp>
        <p:nvSpPr>
          <p:cNvPr id="26" name="Text 23"/>
          <p:cNvSpPr/>
          <p:nvPr/>
        </p:nvSpPr>
        <p:spPr>
          <a:xfrm>
            <a:off x="5120640" y="3291840"/>
            <a:ext cx="3474720" cy="274320"/>
          </a:xfrm>
          <a:prstGeom prst="rect">
            <a:avLst/>
          </a:prstGeom>
          <a:noFill/>
          <a:ln/>
        </p:spPr>
        <p:txBody>
          <a:bodyPr wrap="square" lIns="0" tIns="0" rIns="0" bIns="0" rtlCol="0" anchor="ctr"/>
          <a:lstStyle/>
          <a:p>
            <a:pPr indent="0" marL="0">
              <a:buNone/>
            </a:pPr>
            <a:r>
              <a:rPr lang="en-US" sz="1300" b="1" dirty="0">
                <a:solidFill>
                  <a:srgbClr val="1E90FF"/>
                </a:solidFill>
                <a:latin typeface="Calibri" pitchFamily="34" charset="0"/>
                <a:ea typeface="Calibri" pitchFamily="34" charset="-122"/>
                <a:cs typeface="Calibri" pitchFamily="34" charset="-120"/>
              </a:rPr>
              <a:t>Analysis Findings</a:t>
            </a:r>
            <a:endParaRPr lang="en-US" sz="1300" dirty="0"/>
          </a:p>
        </p:txBody>
      </p:sp>
      <p:sp>
        <p:nvSpPr>
          <p:cNvPr id="27" name="Text 24"/>
          <p:cNvSpPr/>
          <p:nvPr/>
        </p:nvSpPr>
        <p:spPr>
          <a:xfrm>
            <a:off x="5120640" y="3611880"/>
            <a:ext cx="3474720" cy="914400"/>
          </a:xfrm>
          <a:prstGeom prst="rect">
            <a:avLst/>
          </a:prstGeom>
          <a:noFill/>
          <a:ln/>
        </p:spPr>
        <p:txBody>
          <a:bodyPr wrap="square" lIns="0" tIns="0" rIns="0" bIns="0" rtlCol="0" anchor="ctr"/>
          <a:lstStyle/>
          <a:p>
            <a:pPr indent="0" marL="0">
              <a:buNone/>
            </a:pPr>
            <a:r>
              <a:rPr lang="en-US" sz="1000" dirty="0">
                <a:solidFill>
                  <a:srgbClr val="C8D6E5"/>
                </a:solidFill>
                <a:latin typeface="Calibri" pitchFamily="34" charset="0"/>
                <a:ea typeface="Calibri" pitchFamily="34" charset="-122"/>
                <a:cs typeface="Calibri" pitchFamily="34" charset="-120"/>
              </a:rPr>
              <a:t>Decompiled code revealed a scanf-style format parser (static libc) and the main bot loop exposing the XOR key (0x21), 5-min beacon timing, and dual C2 structure. RondoDox likely completed its delivery role before persistence was needed — consistent with a Loader-as-a-Service model.</a:t>
            </a:r>
            <a:endParaRPr lang="en-US" sz="1000" dirty="0"/>
          </a:p>
        </p:txBody>
      </p:sp>
      <p:sp>
        <p:nvSpPr>
          <p:cNvPr id="28" name="Text 2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THE INFECTION CHAIN</a:t>
            </a:r>
            <a:endParaRPr lang="en-US" sz="3200" dirty="0"/>
          </a:p>
        </p:txBody>
      </p:sp>
      <p:sp>
        <p:nvSpPr>
          <p:cNvPr id="3" name="Shape 1"/>
          <p:cNvSpPr/>
          <p:nvPr/>
        </p:nvSpPr>
        <p:spPr>
          <a:xfrm>
            <a:off x="457200" y="1188720"/>
            <a:ext cx="8229600" cy="10058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4" name="Shape 2"/>
          <p:cNvSpPr/>
          <p:nvPr/>
        </p:nvSpPr>
        <p:spPr>
          <a:xfrm>
            <a:off x="457200" y="1188720"/>
            <a:ext cx="8229600" cy="45720"/>
          </a:xfrm>
          <a:prstGeom prst="rect">
            <a:avLst/>
          </a:prstGeom>
          <a:solidFill>
            <a:srgbClr val="FF6B6B"/>
          </a:solidFill>
          <a:ln/>
        </p:spPr>
      </p:sp>
      <p:sp>
        <p:nvSpPr>
          <p:cNvPr id="5" name="Text 3"/>
          <p:cNvSpPr/>
          <p:nvPr/>
        </p:nvSpPr>
        <p:spPr>
          <a:xfrm>
            <a:off x="640080" y="1325880"/>
            <a:ext cx="1097280" cy="274320"/>
          </a:xfrm>
          <a:prstGeom prst="rect">
            <a:avLst/>
          </a:prstGeom>
          <a:noFill/>
          <a:ln/>
        </p:spPr>
        <p:txBody>
          <a:bodyPr wrap="square" lIns="0" tIns="0" rIns="0" bIns="0" rtlCol="0" anchor="ctr"/>
          <a:lstStyle/>
          <a:p>
            <a:pPr indent="0" marL="0">
              <a:buNone/>
            </a:pPr>
            <a:r>
              <a:rPr lang="en-US" sz="1200" b="1" dirty="0">
                <a:solidFill>
                  <a:srgbClr val="FF6B6B"/>
                </a:solidFill>
                <a:latin typeface="Consolas" pitchFamily="34" charset="0"/>
                <a:ea typeface="Consolas" pitchFamily="34" charset="-122"/>
                <a:cs typeface="Consolas" pitchFamily="34" charset="-120"/>
              </a:rPr>
              <a:t>HOUR 0</a:t>
            </a:r>
            <a:endParaRPr lang="en-US" sz="1200" dirty="0"/>
          </a:p>
        </p:txBody>
      </p:sp>
      <p:sp>
        <p:nvSpPr>
          <p:cNvPr id="6" name="Text 4"/>
          <p:cNvSpPr/>
          <p:nvPr/>
        </p:nvSpPr>
        <p:spPr>
          <a:xfrm>
            <a:off x="1828800" y="1280160"/>
            <a:ext cx="6675120" cy="82296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RondoDox arrives first via the exposed ActiveMQ RCE. Exploit-shotgun approach across multiple CVEs. Establishes initial access, beacons to dual C2, and exfiltrates the endpoint into a compromised pool.</a:t>
            </a:r>
            <a:endParaRPr lang="en-US" sz="1200" dirty="0"/>
          </a:p>
        </p:txBody>
      </p:sp>
      <p:sp>
        <p:nvSpPr>
          <p:cNvPr id="7" name="Shape 5"/>
          <p:cNvSpPr/>
          <p:nvPr/>
        </p:nvSpPr>
        <p:spPr>
          <a:xfrm>
            <a:off x="457200" y="2468880"/>
            <a:ext cx="8229600" cy="10058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8" name="Shape 6"/>
          <p:cNvSpPr/>
          <p:nvPr/>
        </p:nvSpPr>
        <p:spPr>
          <a:xfrm>
            <a:off x="457200" y="2468880"/>
            <a:ext cx="8229600" cy="45720"/>
          </a:xfrm>
          <a:prstGeom prst="rect">
            <a:avLst/>
          </a:prstGeom>
          <a:solidFill>
            <a:srgbClr val="1E90FF"/>
          </a:solidFill>
          <a:ln/>
        </p:spPr>
      </p:sp>
      <p:sp>
        <p:nvSpPr>
          <p:cNvPr id="9" name="Text 7"/>
          <p:cNvSpPr/>
          <p:nvPr/>
        </p:nvSpPr>
        <p:spPr>
          <a:xfrm>
            <a:off x="640080" y="2606040"/>
            <a:ext cx="1097280" cy="274320"/>
          </a:xfrm>
          <a:prstGeom prst="rect">
            <a:avLst/>
          </a:prstGeom>
          <a:noFill/>
          <a:ln/>
        </p:spPr>
        <p:txBody>
          <a:bodyPr wrap="square" lIns="0" tIns="0" rIns="0" bIns="0" rtlCol="0" anchor="ctr"/>
          <a:lstStyle/>
          <a:p>
            <a:pPr indent="0" marL="0">
              <a:buNone/>
            </a:pPr>
            <a:r>
              <a:rPr lang="en-US" sz="1200" b="1" dirty="0">
                <a:solidFill>
                  <a:srgbClr val="1E90FF"/>
                </a:solidFill>
                <a:latin typeface="Consolas" pitchFamily="34" charset="0"/>
                <a:ea typeface="Consolas" pitchFamily="34" charset="-122"/>
                <a:cs typeface="Consolas" pitchFamily="34" charset="-120"/>
              </a:rPr>
              <a:t>HOUR ~6</a:t>
            </a:r>
            <a:endParaRPr lang="en-US" sz="1200" dirty="0"/>
          </a:p>
        </p:txBody>
      </p:sp>
      <p:sp>
        <p:nvSpPr>
          <p:cNvPr id="10" name="Text 8"/>
          <p:cNvSpPr/>
          <p:nvPr/>
        </p:nvSpPr>
        <p:spPr>
          <a:xfrm>
            <a:off x="1828800" y="2560320"/>
            <a:ext cx="6675120" cy="82296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Kinsing arrives from a separate C2 server operated by a different threat actor. Pulls XMRig miner, installs cron persistence and libsystem.so rootkit. Separate infrastructure and timing suggest the endpoint was sold or leased via Loader-as-a-Service.</a:t>
            </a:r>
            <a:endParaRPr lang="en-US" sz="1200" dirty="0"/>
          </a:p>
        </p:txBody>
      </p:sp>
      <p:sp>
        <p:nvSpPr>
          <p:cNvPr id="11" name="Shape 9"/>
          <p:cNvSpPr/>
          <p:nvPr/>
        </p:nvSpPr>
        <p:spPr>
          <a:xfrm>
            <a:off x="457200" y="3749040"/>
            <a:ext cx="8229600" cy="10058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2" name="Shape 10"/>
          <p:cNvSpPr/>
          <p:nvPr/>
        </p:nvSpPr>
        <p:spPr>
          <a:xfrm>
            <a:off x="457200" y="3749040"/>
            <a:ext cx="8229600" cy="45720"/>
          </a:xfrm>
          <a:prstGeom prst="rect">
            <a:avLst/>
          </a:prstGeom>
          <a:solidFill>
            <a:srgbClr val="00D4AA"/>
          </a:solidFill>
          <a:ln/>
        </p:spPr>
      </p:sp>
      <p:sp>
        <p:nvSpPr>
          <p:cNvPr id="13" name="Text 11"/>
          <p:cNvSpPr/>
          <p:nvPr/>
        </p:nvSpPr>
        <p:spPr>
          <a:xfrm>
            <a:off x="640080" y="3886200"/>
            <a:ext cx="1097280" cy="274320"/>
          </a:xfrm>
          <a:prstGeom prst="rect">
            <a:avLst/>
          </a:prstGeom>
          <a:noFill/>
          <a:ln/>
        </p:spPr>
        <p:txBody>
          <a:bodyPr wrap="square" lIns="0" tIns="0" rIns="0" bIns="0" rtlCol="0" anchor="ctr"/>
          <a:lstStyle/>
          <a:p>
            <a:pPr indent="0" marL="0">
              <a:buNone/>
            </a:pPr>
            <a:r>
              <a:rPr lang="en-US" sz="1200" b="1" dirty="0">
                <a:solidFill>
                  <a:srgbClr val="00D4AA"/>
                </a:solidFill>
                <a:latin typeface="Consolas" pitchFamily="34" charset="0"/>
                <a:ea typeface="Consolas" pitchFamily="34" charset="-122"/>
                <a:cs typeface="Consolas" pitchFamily="34" charset="-120"/>
              </a:rPr>
              <a:t>RESULT</a:t>
            </a:r>
            <a:endParaRPr lang="en-US" sz="1200" dirty="0"/>
          </a:p>
        </p:txBody>
      </p:sp>
      <p:sp>
        <p:nvSpPr>
          <p:cNvPr id="14" name="Text 12"/>
          <p:cNvSpPr/>
          <p:nvPr/>
        </p:nvSpPr>
        <p:spPr>
          <a:xfrm>
            <a:off x="1828800" y="3840480"/>
            <a:ext cx="6675120" cy="82296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Not a turf war — a supply chain. RondoDox served as the acquisition layer. Kinsing was the payload delivered to a pre-compromised endpoint pool. Consistent with documented LaaS behavior from CloudSEK, Trend Micro, and FortiGuard (mid-2025).</a:t>
            </a:r>
            <a:endParaRPr lang="en-US" sz="1200" dirty="0"/>
          </a:p>
        </p:txBody>
      </p:sp>
      <p:sp>
        <p:nvSpPr>
          <p:cNvPr id="15"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DATA AT SCALE</a:t>
            </a:r>
            <a:endParaRPr lang="en-US" sz="3200" dirty="0"/>
          </a:p>
        </p:txBody>
      </p:sp>
      <p:sp>
        <p:nvSpPr>
          <p:cNvPr id="3" name="Text 1"/>
          <p:cNvSpPr/>
          <p:nvPr/>
        </p:nvSpPr>
        <p:spPr>
          <a:xfrm>
            <a:off x="548640" y="777240"/>
            <a:ext cx="54864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Why Data Parsing Tools Matter</a:t>
            </a:r>
            <a:endParaRPr lang="en-US" sz="1400" dirty="0"/>
          </a:p>
        </p:txBody>
      </p:sp>
      <p:sp>
        <p:nvSpPr>
          <p:cNvPr id="4" name="Shape 2"/>
          <p:cNvSpPr/>
          <p:nvPr/>
        </p:nvSpPr>
        <p:spPr>
          <a:xfrm>
            <a:off x="457200" y="1280160"/>
            <a:ext cx="8229600" cy="109728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280160"/>
            <a:ext cx="8229600" cy="45720"/>
          </a:xfrm>
          <a:prstGeom prst="rect">
            <a:avLst/>
          </a:prstGeom>
          <a:solidFill>
            <a:srgbClr val="00D4AA"/>
          </a:solidFill>
          <a:ln/>
        </p:spPr>
      </p:sp>
      <p:sp>
        <p:nvSpPr>
          <p:cNvPr id="6" name="Text 4"/>
          <p:cNvSpPr/>
          <p:nvPr/>
        </p:nvSpPr>
        <p:spPr>
          <a:xfrm>
            <a:off x="640080" y="1417320"/>
            <a:ext cx="3200400" cy="731520"/>
          </a:xfrm>
          <a:prstGeom prst="rect">
            <a:avLst/>
          </a:prstGeom>
          <a:noFill/>
          <a:ln/>
        </p:spPr>
        <p:txBody>
          <a:bodyPr wrap="square" lIns="0" tIns="0" rIns="0" bIns="0" rtlCol="0" anchor="ctr"/>
          <a:lstStyle/>
          <a:p>
            <a:pPr indent="0" marL="0">
              <a:buNone/>
            </a:pPr>
            <a:r>
              <a:rPr lang="en-US" sz="4400" b="1" dirty="0">
                <a:solidFill>
                  <a:srgbClr val="00D4AA"/>
                </a:solidFill>
                <a:latin typeface="Trebuchet MS" pitchFamily="34" charset="0"/>
                <a:ea typeface="Trebuchet MS" pitchFamily="34" charset="-122"/>
                <a:cs typeface="Trebuchet MS" pitchFamily="34" charset="-120"/>
              </a:rPr>
              <a:t>784,338</a:t>
            </a:r>
            <a:endParaRPr lang="en-US" sz="4400" dirty="0"/>
          </a:p>
        </p:txBody>
      </p:sp>
      <p:sp>
        <p:nvSpPr>
          <p:cNvPr id="7" name="Text 5"/>
          <p:cNvSpPr/>
          <p:nvPr/>
        </p:nvSpPr>
        <p:spPr>
          <a:xfrm>
            <a:off x="3840480" y="1463040"/>
            <a:ext cx="4846320" cy="731520"/>
          </a:xfrm>
          <a:prstGeom prst="rect">
            <a:avLst/>
          </a:prstGeom>
          <a:noFill/>
          <a:ln/>
        </p:spPr>
        <p:txBody>
          <a:bodyPr wrap="square" lIns="0" tIns="0" rIns="0" bIns="0" rtlCol="0" anchor="ctr"/>
          <a:lstStyle/>
          <a:p>
            <a:pPr indent="0" marL="0">
              <a:buNone/>
            </a:pPr>
            <a:r>
              <a:rPr lang="en-US" sz="1300" dirty="0">
                <a:solidFill>
                  <a:srgbClr val="C8D6E5"/>
                </a:solidFill>
                <a:latin typeface="Calibri" pitchFamily="34" charset="0"/>
                <a:ea typeface="Calibri" pitchFamily="34" charset="-122"/>
                <a:cs typeface="Calibri" pitchFamily="34" charset="-120"/>
              </a:rPr>
              <a:t>total documents ingested into Elasticsearch — and climbing. Without proper tooling to parse, filter, and correlate this data, you're drinking from a firehose.</a:t>
            </a:r>
            <a:endParaRPr lang="en-US" sz="1300" dirty="0"/>
          </a:p>
        </p:txBody>
      </p:sp>
      <p:sp>
        <p:nvSpPr>
          <p:cNvPr id="8" name="Shape 6"/>
          <p:cNvSpPr/>
          <p:nvPr/>
        </p:nvSpPr>
        <p:spPr>
          <a:xfrm>
            <a:off x="457200" y="2606040"/>
            <a:ext cx="3931920" cy="228600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9" name="Image 0" descr="/sessions/funny-elegant-cori/mnt/presentation/dashboard.png"/>
          <p:cNvPicPr>
            <a:picLocks noChangeAspect="1"/>
          </p:cNvPicPr>
          <p:nvPr/>
        </p:nvPicPr>
        <p:blipFill>
          <a:blip r:embed="rId1"/>
          <a:stretch>
            <a:fillRect/>
          </a:stretch>
        </p:blipFill>
        <p:spPr>
          <a:xfrm>
            <a:off x="502920" y="2651760"/>
            <a:ext cx="3840480" cy="2194560"/>
          </a:xfrm>
          <a:prstGeom prst="rect">
            <a:avLst/>
          </a:prstGeom>
        </p:spPr>
      </p:pic>
      <p:sp>
        <p:nvSpPr>
          <p:cNvPr id="10" name="Text 7"/>
          <p:cNvSpPr/>
          <p:nvPr/>
        </p:nvSpPr>
        <p:spPr>
          <a:xfrm>
            <a:off x="457200" y="4919472"/>
            <a:ext cx="3931920" cy="182880"/>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Security Onion Home — data overview</a:t>
            </a:r>
            <a:endParaRPr lang="en-US" sz="800" dirty="0"/>
          </a:p>
        </p:txBody>
      </p:sp>
      <p:sp>
        <p:nvSpPr>
          <p:cNvPr id="11" name="Shape 8"/>
          <p:cNvSpPr/>
          <p:nvPr/>
        </p:nvSpPr>
        <p:spPr>
          <a:xfrm>
            <a:off x="4663440" y="2606040"/>
            <a:ext cx="4023360" cy="228600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12" name="Image 1" descr="/sessions/funny-elegant-cori/mnt/presentation/dashboard3.png"/>
          <p:cNvPicPr>
            <a:picLocks noChangeAspect="1"/>
          </p:cNvPicPr>
          <p:nvPr/>
        </p:nvPicPr>
        <p:blipFill>
          <a:blip r:embed="rId2"/>
          <a:stretch>
            <a:fillRect/>
          </a:stretch>
        </p:blipFill>
        <p:spPr>
          <a:xfrm>
            <a:off x="4709160" y="2651760"/>
            <a:ext cx="3931920" cy="2194560"/>
          </a:xfrm>
          <a:prstGeom prst="rect">
            <a:avLst/>
          </a:prstGeom>
        </p:spPr>
      </p:pic>
      <p:sp>
        <p:nvSpPr>
          <p:cNvPr id="13" name="Text 9"/>
          <p:cNvSpPr/>
          <p:nvPr/>
        </p:nvSpPr>
        <p:spPr>
          <a:xfrm>
            <a:off x="4663440" y="4919472"/>
            <a:ext cx="4023360" cy="182880"/>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Kibana Alerts — 1,215 total (255 critical, 960 high)</a:t>
            </a:r>
            <a:endParaRPr lang="en-US" sz="800" dirty="0"/>
          </a:p>
        </p:txBody>
      </p:sp>
      <p:sp>
        <p:nvSpPr>
          <p:cNvPr id="14" name="Text 10"/>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ALERT TRIAGE</a:t>
            </a:r>
            <a:endParaRPr lang="en-US" sz="3200" dirty="0"/>
          </a:p>
        </p:txBody>
      </p:sp>
      <p:sp>
        <p:nvSpPr>
          <p:cNvPr id="3" name="Text 1"/>
          <p:cNvSpPr/>
          <p:nvPr/>
        </p:nvSpPr>
        <p:spPr>
          <a:xfrm>
            <a:off x="548640" y="777240"/>
            <a:ext cx="54864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Parsing Signal from Noise</a:t>
            </a:r>
            <a:endParaRPr lang="en-US" sz="1400" dirty="0"/>
          </a:p>
        </p:txBody>
      </p:sp>
      <p:sp>
        <p:nvSpPr>
          <p:cNvPr id="4" name="Shape 2"/>
          <p:cNvSpPr/>
          <p:nvPr/>
        </p:nvSpPr>
        <p:spPr>
          <a:xfrm>
            <a:off x="274320" y="1234440"/>
            <a:ext cx="4206240" cy="246888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5" name="Image 0" descr="/sessions/funny-elegant-cori/mnt/presentation/dashboard4.png"/>
          <p:cNvPicPr>
            <a:picLocks noChangeAspect="1"/>
          </p:cNvPicPr>
          <p:nvPr/>
        </p:nvPicPr>
        <p:blipFill>
          <a:blip r:embed="rId1"/>
          <a:stretch>
            <a:fillRect/>
          </a:stretch>
        </p:blipFill>
        <p:spPr>
          <a:xfrm>
            <a:off x="320040" y="1280160"/>
            <a:ext cx="4114800" cy="2377440"/>
          </a:xfrm>
          <a:prstGeom prst="rect">
            <a:avLst/>
          </a:prstGeom>
        </p:spPr>
      </p:pic>
      <p:sp>
        <p:nvSpPr>
          <p:cNvPr id="6" name="Text 3"/>
          <p:cNvSpPr/>
          <p:nvPr/>
        </p:nvSpPr>
        <p:spPr>
          <a:xfrm>
            <a:off x="274320" y="37307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Critical severity filter — kdevtmpfsi, rondo, and forensic artifacts</a:t>
            </a:r>
            <a:endParaRPr lang="en-US" sz="800" dirty="0"/>
          </a:p>
        </p:txBody>
      </p:sp>
      <p:sp>
        <p:nvSpPr>
          <p:cNvPr id="7" name="Shape 4"/>
          <p:cNvSpPr/>
          <p:nvPr/>
        </p:nvSpPr>
        <p:spPr>
          <a:xfrm>
            <a:off x="4663440" y="1234440"/>
            <a:ext cx="4206240" cy="246888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8" name="Image 1" descr="/sessions/funny-elegant-cori/mnt/presentation/dashboard2.png"/>
          <p:cNvPicPr>
            <a:picLocks noChangeAspect="1"/>
          </p:cNvPicPr>
          <p:nvPr/>
        </p:nvPicPr>
        <p:blipFill>
          <a:blip r:embed="rId2"/>
          <a:stretch>
            <a:fillRect/>
          </a:stretch>
        </p:blipFill>
        <p:spPr>
          <a:xfrm>
            <a:off x="4709160" y="1280160"/>
            <a:ext cx="4114800" cy="2377440"/>
          </a:xfrm>
          <a:prstGeom prst="rect">
            <a:avLst/>
          </a:prstGeom>
        </p:spPr>
      </p:pic>
      <p:sp>
        <p:nvSpPr>
          <p:cNvPr id="9" name="Text 5"/>
          <p:cNvSpPr/>
          <p:nvPr/>
        </p:nvSpPr>
        <p:spPr>
          <a:xfrm>
            <a:off x="4663440" y="37307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Malware detection events — softirq, rondo, file modification alerts</a:t>
            </a:r>
            <a:endParaRPr lang="en-US" sz="800" dirty="0"/>
          </a:p>
        </p:txBody>
      </p:sp>
      <p:sp>
        <p:nvSpPr>
          <p:cNvPr id="10" name="Shape 6"/>
          <p:cNvSpPr/>
          <p:nvPr/>
        </p:nvSpPr>
        <p:spPr>
          <a:xfrm>
            <a:off x="274320" y="4114800"/>
            <a:ext cx="8595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1" name="Shape 7"/>
          <p:cNvSpPr/>
          <p:nvPr/>
        </p:nvSpPr>
        <p:spPr>
          <a:xfrm>
            <a:off x="274320" y="4114800"/>
            <a:ext cx="54864" cy="777240"/>
          </a:xfrm>
          <a:prstGeom prst="rect">
            <a:avLst/>
          </a:prstGeom>
          <a:solidFill>
            <a:srgbClr val="00D4AA"/>
          </a:solidFill>
          <a:ln/>
        </p:spPr>
      </p:sp>
      <p:sp>
        <p:nvSpPr>
          <p:cNvPr id="12" name="Text 8"/>
          <p:cNvSpPr/>
          <p:nvPr/>
        </p:nvSpPr>
        <p:spPr>
          <a:xfrm>
            <a:off x="548640" y="4160520"/>
            <a:ext cx="8138160" cy="640080"/>
          </a:xfrm>
          <a:prstGeom prst="rect">
            <a:avLst/>
          </a:prstGeom>
          <a:noFill/>
          <a:ln/>
        </p:spPr>
        <p:txBody>
          <a:bodyPr wrap="square" rtlCol="0" anchor="ctr"/>
          <a:lstStyle/>
          <a:p>
            <a:pPr indent="0" marL="0">
              <a:buNone/>
            </a:pPr>
            <a:r>
              <a:rPr lang="en-US" sz="1200" dirty="0">
                <a:solidFill>
                  <a:srgbClr val="C8D6E5"/>
                </a:solidFill>
                <a:latin typeface="Calibri" pitchFamily="34" charset="0"/>
                <a:ea typeface="Calibri" pitchFamily="34" charset="-122"/>
                <a:cs typeface="Calibri" pitchFamily="34" charset="-120"/>
              </a:rPr>
              <a:t>With nearly a million data points, the ability to filter, correlate, and prioritize is everything. Without tools like Kibana, Suricata rules, and custom queries, critical malware events get buried under noise. Data parsing isn't optional — it's survival.</a:t>
            </a:r>
            <a:endParaRPr lang="en-US" sz="1200" dirty="0"/>
          </a:p>
        </p:txBody>
      </p:sp>
      <p:sp>
        <p:nvSpPr>
          <p:cNvPr id="13" name="Text 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GLOBAL ATTACK ORIGINS</a:t>
            </a:r>
            <a:endParaRPr lang="en-US" sz="3200" dirty="0"/>
          </a:p>
        </p:txBody>
      </p:sp>
      <p:sp>
        <p:nvSpPr>
          <p:cNvPr id="3" name="Text 1"/>
          <p:cNvSpPr/>
          <p:nvPr/>
        </p:nvSpPr>
        <p:spPr>
          <a:xfrm>
            <a:off x="548640" y="777240"/>
            <a:ext cx="73152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Kibana Maps — 24 Hour Point-to-Point Traffic</a:t>
            </a:r>
            <a:endParaRPr lang="en-US" sz="1400" dirty="0"/>
          </a:p>
        </p:txBody>
      </p:sp>
      <p:sp>
        <p:nvSpPr>
          <p:cNvPr id="4" name="Shape 2"/>
          <p:cNvSpPr/>
          <p:nvPr/>
        </p:nvSpPr>
        <p:spPr>
          <a:xfrm>
            <a:off x="274320" y="1234440"/>
            <a:ext cx="8595360" cy="3520440"/>
          </a:xfrm>
          <a:prstGeom prst="rect">
            <a:avLst/>
          </a:prstGeom>
          <a:solidFill>
            <a:srgbClr val="0D0D0D"/>
          </a:solidFill>
          <a:ln/>
          <a:effectLst>
            <a:outerShdw sx="100000" sy="100000" kx="0" ky="0" algn="bl" rotWithShape="0" blurRad="101600" dist="38100" dir="8100000">
              <a:srgbClr val="000000">
                <a:alpha val="30000"/>
              </a:srgbClr>
            </a:outerShdw>
          </a:effectLst>
        </p:spPr>
      </p:sp>
      <p:pic>
        <p:nvPicPr>
          <p:cNvPr id="5" name="Image 0" descr="/sessions/funny-elegant-cori/mnt/presentation/map.png"/>
          <p:cNvPicPr>
            <a:picLocks noChangeAspect="1"/>
          </p:cNvPicPr>
          <p:nvPr/>
        </p:nvPicPr>
        <p:blipFill>
          <a:blip r:embed="rId1"/>
          <a:stretch>
            <a:fillRect/>
          </a:stretch>
        </p:blipFill>
        <p:spPr>
          <a:xfrm>
            <a:off x="320040" y="1280160"/>
            <a:ext cx="8503920" cy="3429000"/>
          </a:xfrm>
          <a:prstGeom prst="rect">
            <a:avLst/>
          </a:prstGeom>
        </p:spPr>
      </p:pic>
      <p:sp>
        <p:nvSpPr>
          <p:cNvPr id="6" name="Text 3"/>
          <p:cNvSpPr/>
          <p:nvPr/>
        </p:nvSpPr>
        <p:spPr>
          <a:xfrm>
            <a:off x="274320" y="4800600"/>
            <a:ext cx="8595360" cy="228600"/>
          </a:xfrm>
          <a:prstGeom prst="rect">
            <a:avLst/>
          </a:prstGeom>
          <a:noFill/>
          <a:ln/>
        </p:spPr>
        <p:txBody>
          <a:bodyPr wrap="square" rtlCol="0" anchor="ctr"/>
          <a:lstStyle/>
          <a:p>
            <a:pPr algn="ctr" indent="0" marL="0">
              <a:buNone/>
            </a:pPr>
            <a:r>
              <a:rPr lang="en-US" sz="900" i="1" dirty="0">
                <a:solidFill>
                  <a:srgbClr val="6B7B8D"/>
                </a:solidFill>
                <a:latin typeface="Calibri" pitchFamily="34" charset="0"/>
                <a:ea typeface="Calibri" pitchFamily="34" charset="-122"/>
                <a:cs typeface="Calibri" pitchFamily="34" charset="-120"/>
              </a:rPr>
              <a:t>GeoIP-enriched traffic visualization showing global attack origin flight paths converging on agricultureintech.net</a:t>
            </a:r>
            <a:endParaRPr lang="en-US" sz="900" dirty="0"/>
          </a:p>
        </p:txBody>
      </p:sp>
      <p:sp>
        <p:nvSpPr>
          <p:cNvPr id="7"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CHALLENGES &amp; LESSONS</a:t>
            </a:r>
            <a:endParaRPr lang="en-US" sz="3200" dirty="0"/>
          </a:p>
        </p:txBody>
      </p:sp>
      <p:sp>
        <p:nvSpPr>
          <p:cNvPr id="3" name="Shape 1"/>
          <p:cNvSpPr/>
          <p:nvPr/>
        </p:nvSpPr>
        <p:spPr>
          <a:xfrm>
            <a:off x="457200" y="109728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4" name="Shape 2"/>
          <p:cNvSpPr/>
          <p:nvPr/>
        </p:nvSpPr>
        <p:spPr>
          <a:xfrm>
            <a:off x="457200" y="1097280"/>
            <a:ext cx="3931920" cy="45720"/>
          </a:xfrm>
          <a:prstGeom prst="rect">
            <a:avLst/>
          </a:prstGeom>
          <a:solidFill>
            <a:srgbClr val="00D4AA"/>
          </a:solidFill>
          <a:ln/>
        </p:spPr>
      </p:sp>
      <p:pic>
        <p:nvPicPr>
          <p:cNvPr id="5" name="Image 0" descr="preencoded.png"/>
          <p:cNvPicPr>
            <a:picLocks noChangeAspect="1"/>
          </p:cNvPicPr>
          <p:nvPr/>
        </p:nvPicPr>
        <p:blipFill>
          <a:blip r:embed="rId1"/>
          <a:stretch>
            <a:fillRect/>
          </a:stretch>
        </p:blipFill>
        <p:spPr>
          <a:xfrm>
            <a:off x="640080" y="1234440"/>
            <a:ext cx="320040" cy="320040"/>
          </a:xfrm>
          <a:prstGeom prst="rect">
            <a:avLst/>
          </a:prstGeom>
        </p:spPr>
      </p:pic>
      <p:sp>
        <p:nvSpPr>
          <p:cNvPr id="6" name="Text 3"/>
          <p:cNvSpPr/>
          <p:nvPr/>
        </p:nvSpPr>
        <p:spPr>
          <a:xfrm>
            <a:off x="1051560" y="1207008"/>
            <a:ext cx="3108960" cy="320040"/>
          </a:xfrm>
          <a:prstGeom prst="rect">
            <a:avLst/>
          </a:prstGeom>
          <a:noFill/>
          <a:ln/>
        </p:spPr>
        <p:txBody>
          <a:bodyPr wrap="square" lIns="0" tIns="0" rIns="0" bIns="0"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Student-Led, From Zero</a:t>
            </a:r>
            <a:endParaRPr lang="en-US" sz="1400" dirty="0"/>
          </a:p>
        </p:txBody>
      </p:sp>
      <p:sp>
        <p:nvSpPr>
          <p:cNvPr id="7" name="Text 4"/>
          <p:cNvSpPr/>
          <p:nvPr/>
        </p:nvSpPr>
        <p:spPr>
          <a:xfrm>
            <a:off x="640080" y="164592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There was nothing here when we started. No script to follow, no template to copy. We had to hack it out and change scope day to day. This was a first attempt at something like this — and we made it work.</a:t>
            </a:r>
            <a:endParaRPr lang="en-US" sz="1050" dirty="0"/>
          </a:p>
        </p:txBody>
      </p:sp>
      <p:sp>
        <p:nvSpPr>
          <p:cNvPr id="8" name="Shape 5"/>
          <p:cNvSpPr/>
          <p:nvPr/>
        </p:nvSpPr>
        <p:spPr>
          <a:xfrm>
            <a:off x="4754880" y="109728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9" name="Shape 6"/>
          <p:cNvSpPr/>
          <p:nvPr/>
        </p:nvSpPr>
        <p:spPr>
          <a:xfrm>
            <a:off x="4754880" y="1097280"/>
            <a:ext cx="3931920" cy="45720"/>
          </a:xfrm>
          <a:prstGeom prst="rect">
            <a:avLst/>
          </a:prstGeom>
          <a:solidFill>
            <a:srgbClr val="FF6B6B"/>
          </a:solidFill>
          <a:ln/>
        </p:spPr>
      </p:sp>
      <p:pic>
        <p:nvPicPr>
          <p:cNvPr id="10" name="Image 1" descr="preencoded.png"/>
          <p:cNvPicPr>
            <a:picLocks noChangeAspect="1"/>
          </p:cNvPicPr>
          <p:nvPr/>
        </p:nvPicPr>
        <p:blipFill>
          <a:blip r:embed="rId2"/>
          <a:stretch>
            <a:fillRect/>
          </a:stretch>
        </p:blipFill>
        <p:spPr>
          <a:xfrm>
            <a:off x="4937760" y="1234440"/>
            <a:ext cx="320040" cy="320040"/>
          </a:xfrm>
          <a:prstGeom prst="rect">
            <a:avLst/>
          </a:prstGeom>
        </p:spPr>
      </p:pic>
      <p:sp>
        <p:nvSpPr>
          <p:cNvPr id="11" name="Text 7"/>
          <p:cNvSpPr/>
          <p:nvPr/>
        </p:nvSpPr>
        <p:spPr>
          <a:xfrm>
            <a:off x="5349240" y="1207008"/>
            <a:ext cx="310896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Elasticsearch Disk Exhaustion</a:t>
            </a:r>
            <a:endParaRPr lang="en-US" sz="1400" dirty="0"/>
          </a:p>
        </p:txBody>
      </p:sp>
      <p:sp>
        <p:nvSpPr>
          <p:cNvPr id="12" name="Text 8"/>
          <p:cNvSpPr/>
          <p:nvPr/>
        </p:nvSpPr>
        <p:spPr>
          <a:xfrm>
            <a:off x="4937760" y="164592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97% disk usage caused indexing to halt. 22,880 events backed up in Redis. Kernel memory exhaustion triggered soft lockups. We expanded LVM from 15GB to 30GB and recovered from container fault states.</a:t>
            </a:r>
            <a:endParaRPr lang="en-US" sz="1050" dirty="0"/>
          </a:p>
        </p:txBody>
      </p:sp>
      <p:sp>
        <p:nvSpPr>
          <p:cNvPr id="13" name="Shape 9"/>
          <p:cNvSpPr/>
          <p:nvPr/>
        </p:nvSpPr>
        <p:spPr>
          <a:xfrm>
            <a:off x="457200" y="306324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4" name="Shape 10"/>
          <p:cNvSpPr/>
          <p:nvPr/>
        </p:nvSpPr>
        <p:spPr>
          <a:xfrm>
            <a:off x="457200" y="3063240"/>
            <a:ext cx="3931920" cy="45720"/>
          </a:xfrm>
          <a:prstGeom prst="rect">
            <a:avLst/>
          </a:prstGeom>
          <a:solidFill>
            <a:srgbClr val="1E90FF"/>
          </a:solidFill>
          <a:ln/>
        </p:spPr>
      </p:sp>
      <p:pic>
        <p:nvPicPr>
          <p:cNvPr id="15" name="Image 2" descr="preencoded.png"/>
          <p:cNvPicPr>
            <a:picLocks noChangeAspect="1"/>
          </p:cNvPicPr>
          <p:nvPr/>
        </p:nvPicPr>
        <p:blipFill>
          <a:blip r:embed="rId3"/>
          <a:stretch>
            <a:fillRect/>
          </a:stretch>
        </p:blipFill>
        <p:spPr>
          <a:xfrm>
            <a:off x="640080" y="3200400"/>
            <a:ext cx="320040" cy="320040"/>
          </a:xfrm>
          <a:prstGeom prst="rect">
            <a:avLst/>
          </a:prstGeom>
        </p:spPr>
      </p:pic>
      <p:sp>
        <p:nvSpPr>
          <p:cNvPr id="16" name="Text 11"/>
          <p:cNvSpPr/>
          <p:nvPr/>
        </p:nvSpPr>
        <p:spPr>
          <a:xfrm>
            <a:off x="1051560" y="3172968"/>
            <a:ext cx="3108960" cy="320040"/>
          </a:xfrm>
          <a:prstGeom prst="rect">
            <a:avLst/>
          </a:prstGeom>
          <a:noFill/>
          <a:ln/>
        </p:spPr>
        <p:txBody>
          <a:bodyPr wrap="square" lIns="0" tIns="0" rIns="0" bIns="0" rtlCol="0" anchor="ctr"/>
          <a:lstStyle/>
          <a:p>
            <a:pPr indent="0" marL="0">
              <a:buNone/>
            </a:pPr>
            <a:r>
              <a:rPr lang="en-US" sz="1400" b="1" dirty="0">
                <a:solidFill>
                  <a:srgbClr val="1E90FF"/>
                </a:solidFill>
                <a:latin typeface="Calibri" pitchFamily="34" charset="0"/>
                <a:ea typeface="Calibri" pitchFamily="34" charset="-122"/>
                <a:cs typeface="Calibri" pitchFamily="34" charset="-120"/>
              </a:rPr>
              <a:t>The Containerization Detour</a:t>
            </a:r>
            <a:endParaRPr lang="en-US" sz="1400" dirty="0"/>
          </a:p>
        </p:txBody>
      </p:sp>
      <p:sp>
        <p:nvSpPr>
          <p:cNvPr id="17" name="Text 12"/>
          <p:cNvSpPr/>
          <p:nvPr/>
        </p:nvSpPr>
        <p:spPr>
          <a:xfrm>
            <a:off x="640080" y="361188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We originally tried to containerize everything. This led to major issues standing up the ELK stack. We held onto this approach too long before pivoting to Security Onion, which worked perfectly out of the gate. Should've pivoted sooner.</a:t>
            </a:r>
            <a:endParaRPr lang="en-US" sz="1050" dirty="0"/>
          </a:p>
        </p:txBody>
      </p:sp>
      <p:sp>
        <p:nvSpPr>
          <p:cNvPr id="18" name="Shape 13"/>
          <p:cNvSpPr/>
          <p:nvPr/>
        </p:nvSpPr>
        <p:spPr>
          <a:xfrm>
            <a:off x="4754880" y="306324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9" name="Shape 14"/>
          <p:cNvSpPr/>
          <p:nvPr/>
        </p:nvSpPr>
        <p:spPr>
          <a:xfrm>
            <a:off x="4754880" y="3063240"/>
            <a:ext cx="3931920" cy="45720"/>
          </a:xfrm>
          <a:prstGeom prst="rect">
            <a:avLst/>
          </a:prstGeom>
          <a:solidFill>
            <a:srgbClr val="FF6B6B"/>
          </a:solidFill>
          <a:ln/>
        </p:spPr>
      </p:sp>
      <p:pic>
        <p:nvPicPr>
          <p:cNvPr id="20" name="Image 3" descr="preencoded.png"/>
          <p:cNvPicPr>
            <a:picLocks noChangeAspect="1"/>
          </p:cNvPicPr>
          <p:nvPr/>
        </p:nvPicPr>
        <p:blipFill>
          <a:blip r:embed="rId4"/>
          <a:stretch>
            <a:fillRect/>
          </a:stretch>
        </p:blipFill>
        <p:spPr>
          <a:xfrm>
            <a:off x="4937760" y="3200400"/>
            <a:ext cx="320040" cy="320040"/>
          </a:xfrm>
          <a:prstGeom prst="rect">
            <a:avLst/>
          </a:prstGeom>
        </p:spPr>
      </p:pic>
      <p:sp>
        <p:nvSpPr>
          <p:cNvPr id="21" name="Text 15"/>
          <p:cNvSpPr/>
          <p:nvPr/>
        </p:nvSpPr>
        <p:spPr>
          <a:xfrm>
            <a:off x="5349240" y="3172968"/>
            <a:ext cx="310896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Huge Time Investment</a:t>
            </a:r>
            <a:endParaRPr lang="en-US" sz="1400" dirty="0"/>
          </a:p>
        </p:txBody>
      </p:sp>
      <p:sp>
        <p:nvSpPr>
          <p:cNvPr id="22" name="Text 16"/>
          <p:cNvSpPr/>
          <p:nvPr/>
        </p:nvSpPr>
        <p:spPr>
          <a:xfrm>
            <a:off x="4937760" y="361188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We are students with lives. This is industry-level work — beyond industry-level at points. Managing personal time was a razor's edge. But every late night was worth it.</a:t>
            </a:r>
            <a:endParaRPr lang="en-US" sz="1050" dirty="0"/>
          </a:p>
        </p:txBody>
      </p:sp>
      <p:sp>
        <p:nvSpPr>
          <p:cNvPr id="23"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EXPANDING THE SCOPE</a:t>
            </a:r>
            <a:endParaRPr lang="en-US" sz="3200" dirty="0"/>
          </a:p>
        </p:txBody>
      </p:sp>
      <p:sp>
        <p:nvSpPr>
          <p:cNvPr id="3" name="Text 1"/>
          <p:cNvSpPr/>
          <p:nvPr/>
        </p:nvSpPr>
        <p:spPr>
          <a:xfrm>
            <a:off x="548640" y="777240"/>
            <a:ext cx="73152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Windows Endpoint Monitoring &amp; Kimwolf Experiment</a:t>
            </a:r>
            <a:endParaRPr lang="en-US" sz="1400" dirty="0"/>
          </a:p>
        </p:txBody>
      </p:sp>
      <p:sp>
        <p:nvSpPr>
          <p:cNvPr id="4" name="Shape 2"/>
          <p:cNvSpPr/>
          <p:nvPr/>
        </p:nvSpPr>
        <p:spPr>
          <a:xfrm>
            <a:off x="457200" y="1371600"/>
            <a:ext cx="3931920" cy="32004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371600"/>
            <a:ext cx="54864" cy="3200400"/>
          </a:xfrm>
          <a:prstGeom prst="rect">
            <a:avLst/>
          </a:prstGeom>
          <a:solidFill>
            <a:srgbClr val="1E90FF"/>
          </a:solidFill>
          <a:ln/>
        </p:spPr>
      </p:sp>
      <p:pic>
        <p:nvPicPr>
          <p:cNvPr id="6" name="Image 0" descr="preencoded.png"/>
          <p:cNvPicPr>
            <a:picLocks noChangeAspect="1"/>
          </p:cNvPicPr>
          <p:nvPr/>
        </p:nvPicPr>
        <p:blipFill>
          <a:blip r:embed="rId1"/>
          <a:stretch>
            <a:fillRect/>
          </a:stretch>
        </p:blipFill>
        <p:spPr>
          <a:xfrm>
            <a:off x="731520" y="1508760"/>
            <a:ext cx="365760" cy="365760"/>
          </a:xfrm>
          <a:prstGeom prst="rect">
            <a:avLst/>
          </a:prstGeom>
        </p:spPr>
      </p:pic>
      <p:sp>
        <p:nvSpPr>
          <p:cNvPr id="7" name="Text 4"/>
          <p:cNvSpPr/>
          <p:nvPr/>
        </p:nvSpPr>
        <p:spPr>
          <a:xfrm>
            <a:off x="1188720" y="1508760"/>
            <a:ext cx="2743200" cy="365760"/>
          </a:xfrm>
          <a:prstGeom prst="rect">
            <a:avLst/>
          </a:prstGeom>
          <a:noFill/>
          <a:ln/>
        </p:spPr>
        <p:txBody>
          <a:bodyPr wrap="square" lIns="0" tIns="0" rIns="0" bIns="0" rtlCol="0" anchor="ctr"/>
          <a:lstStyle/>
          <a:p>
            <a:pPr indent="0" marL="0">
              <a:buNone/>
            </a:pPr>
            <a:r>
              <a:rPr lang="en-US" sz="1600" b="1" dirty="0">
                <a:solidFill>
                  <a:srgbClr val="1E90FF"/>
                </a:solidFill>
                <a:latin typeface="Calibri" pitchFamily="34" charset="0"/>
                <a:ea typeface="Calibri" pitchFamily="34" charset="-122"/>
                <a:cs typeface="Calibri" pitchFamily="34" charset="-120"/>
              </a:rPr>
              <a:t>Windows Endpoints</a:t>
            </a:r>
            <a:endParaRPr lang="en-US" sz="1600" dirty="0"/>
          </a:p>
        </p:txBody>
      </p:sp>
      <p:sp>
        <p:nvSpPr>
          <p:cNvPr id="8" name="Text 5"/>
          <p:cNvSpPr/>
          <p:nvPr/>
        </p:nvSpPr>
        <p:spPr>
          <a:xfrm>
            <a:off x="777240" y="2011680"/>
            <a:ext cx="3383280" cy="2286000"/>
          </a:xfrm>
          <a:prstGeom prst="rect">
            <a:avLst/>
          </a:prstGeom>
          <a:noFill/>
          <a:ln/>
        </p:spPr>
        <p:txBody>
          <a:bodyPr wrap="square" rtlCol="0" anchor="ctr"/>
          <a:lstStyle/>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Elastic Agent enrollment via SO Fleet</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Sysmon (SwiftOnSecurity config) for process, network, DNS, file telemetry</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PowerShell Script Block Logging via GPO</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Windows Security/System/Application logs</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Auth events (4624/4625), Sysmon EID 3</a:t>
            </a:r>
            <a:endParaRPr lang="en-US" sz="1100" dirty="0"/>
          </a:p>
        </p:txBody>
      </p:sp>
      <p:sp>
        <p:nvSpPr>
          <p:cNvPr id="9" name="Shape 6"/>
          <p:cNvSpPr/>
          <p:nvPr/>
        </p:nvSpPr>
        <p:spPr>
          <a:xfrm>
            <a:off x="4754880" y="1371600"/>
            <a:ext cx="3931920" cy="32004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0" name="Shape 7"/>
          <p:cNvSpPr/>
          <p:nvPr/>
        </p:nvSpPr>
        <p:spPr>
          <a:xfrm>
            <a:off x="4754880" y="1371600"/>
            <a:ext cx="54864" cy="3200400"/>
          </a:xfrm>
          <a:prstGeom prst="rect">
            <a:avLst/>
          </a:prstGeom>
          <a:solidFill>
            <a:srgbClr val="00D4AA"/>
          </a:solidFill>
          <a:ln/>
        </p:spPr>
      </p:sp>
      <p:pic>
        <p:nvPicPr>
          <p:cNvPr id="11" name="Image 1" descr="preencoded.png"/>
          <p:cNvPicPr>
            <a:picLocks noChangeAspect="1"/>
          </p:cNvPicPr>
          <p:nvPr/>
        </p:nvPicPr>
        <p:blipFill>
          <a:blip r:embed="rId2"/>
          <a:stretch>
            <a:fillRect/>
          </a:stretch>
        </p:blipFill>
        <p:spPr>
          <a:xfrm>
            <a:off x="5029200" y="1508760"/>
            <a:ext cx="365760" cy="365760"/>
          </a:xfrm>
          <a:prstGeom prst="rect">
            <a:avLst/>
          </a:prstGeom>
        </p:spPr>
      </p:pic>
      <p:sp>
        <p:nvSpPr>
          <p:cNvPr id="12" name="Text 8"/>
          <p:cNvSpPr/>
          <p:nvPr/>
        </p:nvSpPr>
        <p:spPr>
          <a:xfrm>
            <a:off x="5486400" y="1508760"/>
            <a:ext cx="2926080" cy="365760"/>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Kimwolf (Experimental)</a:t>
            </a:r>
            <a:endParaRPr lang="en-US" sz="1600" dirty="0"/>
          </a:p>
        </p:txBody>
      </p:sp>
      <p:sp>
        <p:nvSpPr>
          <p:cNvPr id="13" name="Text 9"/>
          <p:cNvSpPr/>
          <p:nvPr/>
        </p:nvSpPr>
        <p:spPr>
          <a:xfrm>
            <a:off x="5029200" y="20116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Target</a:t>
            </a:r>
            <a:endParaRPr lang="en-US" sz="1100" dirty="0"/>
          </a:p>
        </p:txBody>
      </p:sp>
      <p:sp>
        <p:nvSpPr>
          <p:cNvPr id="14" name="Text 10"/>
          <p:cNvSpPr/>
          <p:nvPr/>
        </p:nvSpPr>
        <p:spPr>
          <a:xfrm>
            <a:off x="6309360" y="20116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Kimwolf botnet</a:t>
            </a:r>
            <a:endParaRPr lang="en-US" sz="1100" dirty="0"/>
          </a:p>
        </p:txBody>
      </p:sp>
      <p:sp>
        <p:nvSpPr>
          <p:cNvPr id="15" name="Text 11"/>
          <p:cNvSpPr/>
          <p:nvPr/>
        </p:nvSpPr>
        <p:spPr>
          <a:xfrm>
            <a:off x="5029200" y="24688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Vector</a:t>
            </a:r>
            <a:endParaRPr lang="en-US" sz="1100" dirty="0"/>
          </a:p>
        </p:txBody>
      </p:sp>
      <p:sp>
        <p:nvSpPr>
          <p:cNvPr id="16" name="Text 12"/>
          <p:cNvSpPr/>
          <p:nvPr/>
        </p:nvSpPr>
        <p:spPr>
          <a:xfrm>
            <a:off x="6309360" y="24688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ADB exploitation (port 5555)</a:t>
            </a:r>
            <a:endParaRPr lang="en-US" sz="1100" dirty="0"/>
          </a:p>
        </p:txBody>
      </p:sp>
      <p:sp>
        <p:nvSpPr>
          <p:cNvPr id="17" name="Text 13"/>
          <p:cNvSpPr/>
          <p:nvPr/>
        </p:nvSpPr>
        <p:spPr>
          <a:xfrm>
            <a:off x="5029200" y="29260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Setup</a:t>
            </a:r>
            <a:endParaRPr lang="en-US" sz="1100" dirty="0"/>
          </a:p>
        </p:txBody>
      </p:sp>
      <p:sp>
        <p:nvSpPr>
          <p:cNvPr id="18" name="Text 14"/>
          <p:cNvSpPr/>
          <p:nvPr/>
        </p:nvSpPr>
        <p:spPr>
          <a:xfrm>
            <a:off x="6309360" y="29260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Redroid (Android in Docker)</a:t>
            </a:r>
            <a:endParaRPr lang="en-US" sz="1100" dirty="0"/>
          </a:p>
        </p:txBody>
      </p:sp>
      <p:sp>
        <p:nvSpPr>
          <p:cNvPr id="19" name="Text 15"/>
          <p:cNvSpPr/>
          <p:nvPr/>
        </p:nvSpPr>
        <p:spPr>
          <a:xfrm>
            <a:off x="5029200" y="33832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Capture</a:t>
            </a:r>
            <a:endParaRPr lang="en-US" sz="1100" dirty="0"/>
          </a:p>
        </p:txBody>
      </p:sp>
      <p:sp>
        <p:nvSpPr>
          <p:cNvPr id="20" name="Text 16"/>
          <p:cNvSpPr/>
          <p:nvPr/>
        </p:nvSpPr>
        <p:spPr>
          <a:xfrm>
            <a:off x="6309360" y="33832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Container filesystem mirrored to host</a:t>
            </a:r>
            <a:endParaRPr lang="en-US" sz="1100" dirty="0"/>
          </a:p>
        </p:txBody>
      </p:sp>
      <p:sp>
        <p:nvSpPr>
          <p:cNvPr id="21" name="Text 17"/>
          <p:cNvSpPr/>
          <p:nvPr/>
        </p:nvSpPr>
        <p:spPr>
          <a:xfrm>
            <a:off x="5029200" y="38404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Status</a:t>
            </a:r>
            <a:endParaRPr lang="en-US" sz="1100" dirty="0"/>
          </a:p>
        </p:txBody>
      </p:sp>
      <p:sp>
        <p:nvSpPr>
          <p:cNvPr id="22" name="Text 18"/>
          <p:cNvSpPr/>
          <p:nvPr/>
        </p:nvSpPr>
        <p:spPr>
          <a:xfrm>
            <a:off x="6309360" y="38404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Deployed, awaiting results</a:t>
            </a:r>
            <a:endParaRPr lang="en-US" sz="1100" dirty="0"/>
          </a:p>
        </p:txBody>
      </p:sp>
      <p:sp>
        <p:nvSpPr>
          <p:cNvPr id="23"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sp>
        <p:nvSpPr>
          <p:cNvPr id="3" name="Shape 1"/>
          <p:cNvSpPr/>
          <p:nvPr/>
        </p:nvSpPr>
        <p:spPr>
          <a:xfrm>
            <a:off x="594360" y="1161288"/>
            <a:ext cx="347472" cy="347472"/>
          </a:xfrm>
          <a:prstGeom prst="ellipse">
            <a:avLst/>
          </a:prstGeom>
          <a:solidFill>
            <a:srgbClr val="162236"/>
          </a:solidFill>
          <a:ln/>
        </p:spPr>
      </p:sp>
      <p:pic>
        <p:nvPicPr>
          <p:cNvPr id="4" name="Image 0" descr="preencoded.png"/>
          <p:cNvPicPr>
            <a:picLocks noChangeAspect="1"/>
          </p:cNvPicPr>
          <p:nvPr/>
        </p:nvPicPr>
        <p:blipFill>
          <a:blip r:embed="rId1"/>
          <a:stretch>
            <a:fillRect/>
          </a:stretch>
        </p:blipFill>
        <p:spPr>
          <a:xfrm>
            <a:off x="658368" y="1225296"/>
            <a:ext cx="219456" cy="219456"/>
          </a:xfrm>
          <a:prstGeom prst="rect">
            <a:avLst/>
          </a:prstGeom>
        </p:spPr>
      </p:pic>
      <p:sp>
        <p:nvSpPr>
          <p:cNvPr id="5" name="Text 2"/>
          <p:cNvSpPr/>
          <p:nvPr/>
        </p:nvSpPr>
        <p:spPr>
          <a:xfrm>
            <a:off x="1143000" y="109728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Two malware families. One infection chain. RondoDox as the loader, Kinsing as the delivered payload — a Loader-as-a-Service operation documented live.</a:t>
            </a:r>
            <a:endParaRPr lang="en-US" sz="1200" dirty="0"/>
          </a:p>
        </p:txBody>
      </p:sp>
      <p:sp>
        <p:nvSpPr>
          <p:cNvPr id="6" name="Shape 3"/>
          <p:cNvSpPr/>
          <p:nvPr/>
        </p:nvSpPr>
        <p:spPr>
          <a:xfrm>
            <a:off x="594360" y="1801368"/>
            <a:ext cx="347472" cy="347472"/>
          </a:xfrm>
          <a:prstGeom prst="ellipse">
            <a:avLst/>
          </a:prstGeom>
          <a:solidFill>
            <a:srgbClr val="162236"/>
          </a:solidFill>
          <a:ln/>
        </p:spPr>
      </p:sp>
      <p:pic>
        <p:nvPicPr>
          <p:cNvPr id="7" name="Image 1" descr="preencoded.png"/>
          <p:cNvPicPr>
            <a:picLocks noChangeAspect="1"/>
          </p:cNvPicPr>
          <p:nvPr/>
        </p:nvPicPr>
        <p:blipFill>
          <a:blip r:embed="rId2"/>
          <a:stretch>
            <a:fillRect/>
          </a:stretch>
        </p:blipFill>
        <p:spPr>
          <a:xfrm>
            <a:off x="658368" y="1865376"/>
            <a:ext cx="219456" cy="219456"/>
          </a:xfrm>
          <a:prstGeom prst="rect">
            <a:avLst/>
          </a:prstGeom>
        </p:spPr>
      </p:pic>
      <p:sp>
        <p:nvSpPr>
          <p:cNvPr id="8" name="Text 4"/>
          <p:cNvSpPr/>
          <p:nvPr/>
        </p:nvSpPr>
        <p:spPr>
          <a:xfrm>
            <a:off x="1143000" y="173736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Built entirely from scratch by students — no template, no script. We hacked it out, changed scope daily, and made it work.</a:t>
            </a:r>
            <a:endParaRPr lang="en-US" sz="1200" dirty="0"/>
          </a:p>
        </p:txBody>
      </p:sp>
      <p:sp>
        <p:nvSpPr>
          <p:cNvPr id="9" name="Shape 5"/>
          <p:cNvSpPr/>
          <p:nvPr/>
        </p:nvSpPr>
        <p:spPr>
          <a:xfrm>
            <a:off x="594360" y="2441448"/>
            <a:ext cx="347472" cy="347472"/>
          </a:xfrm>
          <a:prstGeom prst="ellipse">
            <a:avLst/>
          </a:prstGeom>
          <a:solidFill>
            <a:srgbClr val="162236"/>
          </a:solidFill>
          <a:ln/>
        </p:spPr>
      </p:sp>
      <p:pic>
        <p:nvPicPr>
          <p:cNvPr id="10" name="Image 2" descr="preencoded.png"/>
          <p:cNvPicPr>
            <a:picLocks noChangeAspect="1"/>
          </p:cNvPicPr>
          <p:nvPr/>
        </p:nvPicPr>
        <p:blipFill>
          <a:blip r:embed="rId3"/>
          <a:stretch>
            <a:fillRect/>
          </a:stretch>
        </p:blipFill>
        <p:spPr>
          <a:xfrm>
            <a:off x="658368" y="2505456"/>
            <a:ext cx="219456" cy="219456"/>
          </a:xfrm>
          <a:prstGeom prst="rect">
            <a:avLst/>
          </a:prstGeom>
        </p:spPr>
      </p:pic>
      <p:sp>
        <p:nvSpPr>
          <p:cNvPr id="11" name="Text 6"/>
          <p:cNvSpPr/>
          <p:nvPr/>
        </p:nvSpPr>
        <p:spPr>
          <a:xfrm>
            <a:off x="1143000" y="237744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Real CVE exploitation observed and analyzed: CVE-2021-41773 (path traversal) and CVE-2023-46604 (ActiveMQ RCE).</a:t>
            </a:r>
            <a:endParaRPr lang="en-US" sz="1200" dirty="0"/>
          </a:p>
        </p:txBody>
      </p:sp>
      <p:sp>
        <p:nvSpPr>
          <p:cNvPr id="12" name="Shape 7"/>
          <p:cNvSpPr/>
          <p:nvPr/>
        </p:nvSpPr>
        <p:spPr>
          <a:xfrm>
            <a:off x="594360" y="3081528"/>
            <a:ext cx="347472" cy="347472"/>
          </a:xfrm>
          <a:prstGeom prst="ellipse">
            <a:avLst/>
          </a:prstGeom>
          <a:solidFill>
            <a:srgbClr val="162236"/>
          </a:solidFill>
          <a:ln/>
        </p:spPr>
      </p:sp>
      <p:pic>
        <p:nvPicPr>
          <p:cNvPr id="13" name="Image 3" descr="preencoded.png"/>
          <p:cNvPicPr>
            <a:picLocks noChangeAspect="1"/>
          </p:cNvPicPr>
          <p:nvPr/>
        </p:nvPicPr>
        <p:blipFill>
          <a:blip r:embed="rId4"/>
          <a:stretch>
            <a:fillRect/>
          </a:stretch>
        </p:blipFill>
        <p:spPr>
          <a:xfrm>
            <a:off x="658368" y="3145536"/>
            <a:ext cx="219456" cy="219456"/>
          </a:xfrm>
          <a:prstGeom prst="rect">
            <a:avLst/>
          </a:prstGeom>
        </p:spPr>
      </p:pic>
      <p:sp>
        <p:nvSpPr>
          <p:cNvPr id="14" name="Text 8"/>
          <p:cNvSpPr/>
          <p:nvPr/>
        </p:nvSpPr>
        <p:spPr>
          <a:xfrm>
            <a:off x="1143000" y="301752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784K+ events ingested. Without Kibana, Suricata, and custom queries, critical detections drown in noise. Data parsing is survival.</a:t>
            </a:r>
            <a:endParaRPr lang="en-US" sz="1200" dirty="0"/>
          </a:p>
        </p:txBody>
      </p:sp>
      <p:sp>
        <p:nvSpPr>
          <p:cNvPr id="15" name="Shape 9"/>
          <p:cNvSpPr/>
          <p:nvPr/>
        </p:nvSpPr>
        <p:spPr>
          <a:xfrm>
            <a:off x="594360" y="3721608"/>
            <a:ext cx="347472" cy="347472"/>
          </a:xfrm>
          <a:prstGeom prst="ellipse">
            <a:avLst/>
          </a:prstGeom>
          <a:solidFill>
            <a:srgbClr val="162236"/>
          </a:solidFill>
          <a:ln/>
        </p:spPr>
      </p:sp>
      <p:pic>
        <p:nvPicPr>
          <p:cNvPr id="16" name="Image 4" descr="preencoded.png"/>
          <p:cNvPicPr>
            <a:picLocks noChangeAspect="1"/>
          </p:cNvPicPr>
          <p:nvPr/>
        </p:nvPicPr>
        <p:blipFill>
          <a:blip r:embed="rId5"/>
          <a:stretch>
            <a:fillRect/>
          </a:stretch>
        </p:blipFill>
        <p:spPr>
          <a:xfrm>
            <a:off x="658368" y="3785616"/>
            <a:ext cx="219456" cy="219456"/>
          </a:xfrm>
          <a:prstGeom prst="rect">
            <a:avLst/>
          </a:prstGeom>
        </p:spPr>
      </p:pic>
      <p:sp>
        <p:nvSpPr>
          <p:cNvPr id="17" name="Text 10"/>
          <p:cNvSpPr/>
          <p:nvPr/>
        </p:nvSpPr>
        <p:spPr>
          <a:xfrm>
            <a:off x="1143000" y="365760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Industry-level (and beyond) work done on student time. The time investment was a razor's edge — but worth every late night.</a:t>
            </a:r>
            <a:endParaRPr lang="en-US" sz="1200" dirty="0"/>
          </a:p>
        </p:txBody>
      </p:sp>
      <p:sp>
        <p:nvSpPr>
          <p:cNvPr id="18" name="Shape 11"/>
          <p:cNvSpPr/>
          <p:nvPr/>
        </p:nvSpPr>
        <p:spPr>
          <a:xfrm>
            <a:off x="594360" y="4361688"/>
            <a:ext cx="347472" cy="347472"/>
          </a:xfrm>
          <a:prstGeom prst="ellipse">
            <a:avLst/>
          </a:prstGeom>
          <a:solidFill>
            <a:srgbClr val="162236"/>
          </a:solidFill>
          <a:ln/>
        </p:spPr>
      </p:sp>
      <p:pic>
        <p:nvPicPr>
          <p:cNvPr id="19" name="Image 5" descr="preencoded.png"/>
          <p:cNvPicPr>
            <a:picLocks noChangeAspect="1"/>
          </p:cNvPicPr>
          <p:nvPr/>
        </p:nvPicPr>
        <p:blipFill>
          <a:blip r:embed="rId6"/>
          <a:stretch>
            <a:fillRect/>
          </a:stretch>
        </p:blipFill>
        <p:spPr>
          <a:xfrm>
            <a:off x="658368" y="4425696"/>
            <a:ext cx="219456" cy="219456"/>
          </a:xfrm>
          <a:prstGeom prst="rect">
            <a:avLst/>
          </a:prstGeom>
        </p:spPr>
      </p:pic>
      <p:sp>
        <p:nvSpPr>
          <p:cNvPr id="20" name="Text 12"/>
          <p:cNvSpPr/>
          <p:nvPr/>
        </p:nvSpPr>
        <p:spPr>
          <a:xfrm>
            <a:off x="1143000" y="429768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The Kimwolf/ADB pivot and Windows endpoint expansion show the project's adaptability and room to grow.</a:t>
            </a:r>
            <a:endParaRPr lang="en-US" sz="1200" dirty="0"/>
          </a:p>
        </p:txBody>
      </p:sp>
      <p:sp>
        <p:nvSpPr>
          <p:cNvPr id="21"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AA"/>
          </a:solidFill>
          <a:ln/>
        </p:spPr>
      </p:sp>
      <p:pic>
        <p:nvPicPr>
          <p:cNvPr id="3" name="Image 0" descr="preencoded.png"/>
          <p:cNvPicPr>
            <a:picLocks noChangeAspect="1"/>
          </p:cNvPicPr>
          <p:nvPr/>
        </p:nvPicPr>
        <p:blipFill>
          <a:blip r:embed="rId1"/>
          <a:stretch>
            <a:fillRect/>
          </a:stretch>
        </p:blipFill>
        <p:spPr>
          <a:xfrm>
            <a:off x="3886200" y="457200"/>
            <a:ext cx="1371600" cy="1371600"/>
          </a:xfrm>
          <a:prstGeom prst="rect">
            <a:avLst/>
          </a:prstGeom>
        </p:spPr>
      </p:pic>
      <p:sp>
        <p:nvSpPr>
          <p:cNvPr id="4" name="Text 1"/>
          <p:cNvSpPr/>
          <p:nvPr/>
        </p:nvSpPr>
        <p:spPr>
          <a:xfrm>
            <a:off x="457200" y="1920240"/>
            <a:ext cx="8229600" cy="640080"/>
          </a:xfrm>
          <a:prstGeom prst="rect">
            <a:avLst/>
          </a:prstGeom>
          <a:noFill/>
          <a:ln/>
        </p:spPr>
        <p:txBody>
          <a:bodyPr wrap="square" rtlCol="0" anchor="ctr"/>
          <a:lstStyle/>
          <a:p>
            <a:pPr algn="ctr" indent="0" marL="0">
              <a:buNone/>
            </a:pPr>
            <a:r>
              <a:rPr lang="en-US" sz="3000" b="1" spc="200" kern="0" dirty="0">
                <a:solidFill>
                  <a:srgbClr val="FFFFFF"/>
                </a:solidFill>
                <a:latin typeface="Trebuchet MS" pitchFamily="34" charset="0"/>
                <a:ea typeface="Trebuchet MS" pitchFamily="34" charset="-122"/>
                <a:cs typeface="Trebuchet MS" pitchFamily="34" charset="-120"/>
              </a:rPr>
              <a:t>FINDINGS</a:t>
            </a:r>
            <a:endParaRPr lang="en-US" sz="3000" dirty="0"/>
          </a:p>
        </p:txBody>
      </p:sp>
      <p:sp>
        <p:nvSpPr>
          <p:cNvPr id="5" name="Text 2"/>
          <p:cNvSpPr/>
          <p:nvPr/>
        </p:nvSpPr>
        <p:spPr>
          <a:xfrm>
            <a:off x="685800" y="2560320"/>
            <a:ext cx="7772400" cy="914400"/>
          </a:xfrm>
          <a:prstGeom prst="rect">
            <a:avLst/>
          </a:prstGeom>
          <a:noFill/>
          <a:ln/>
        </p:spPr>
        <p:txBody>
          <a:bodyPr wrap="square" rtlCol="0" anchor="ctr"/>
          <a:lstStyle/>
          <a:p>
            <a:pPr algn="ctr" indent="0" marL="0">
              <a:buNone/>
            </a:pPr>
            <a:r>
              <a:rPr lang="en-US" sz="1400" i="1" dirty="0">
                <a:solidFill>
                  <a:srgbClr val="00D4AA"/>
                </a:solidFill>
                <a:latin typeface="Calibri" pitchFamily="34" charset="0"/>
                <a:ea typeface="Calibri" pitchFamily="34" charset="-122"/>
                <a:cs typeface="Calibri" pitchFamily="34" charset="-120"/>
              </a:rPr>
              <a:t>A live honeynet built from scratch. Real CVE exploitation documented.</a:t>
            </a:r>
            <a:endParaRPr lang="en-US" sz="1400" dirty="0"/>
          </a:p>
          <a:p>
            <a:pPr algn="ctr" indent="0" marL="0">
              <a:buNone/>
            </a:pPr>
            <a:r>
              <a:rPr lang="en-US" sz="1400" i="1" dirty="0">
                <a:solidFill>
                  <a:srgbClr val="00D4AA"/>
                </a:solidFill>
                <a:latin typeface="Calibri" pitchFamily="34" charset="0"/>
                <a:ea typeface="Calibri" pitchFamily="34" charset="-122"/>
                <a:cs typeface="Calibri" pitchFamily="34" charset="-120"/>
              </a:rPr>
              <a:t>784K+ events ingested and analyzed. A Loader-as-a-Service infection chain confirmed.</a:t>
            </a:r>
            <a:endParaRPr lang="en-US" sz="1400" dirty="0"/>
          </a:p>
          <a:p>
            <a:pPr algn="ctr" indent="0" marL="0">
              <a:buNone/>
            </a:pPr>
            <a:r>
              <a:rPr lang="en-US" sz="1400" i="1" dirty="0">
                <a:solidFill>
                  <a:srgbClr val="00D4AA"/>
                </a:solidFill>
                <a:latin typeface="Calibri" pitchFamily="34" charset="0"/>
                <a:ea typeface="Calibri" pitchFamily="34" charset="-122"/>
                <a:cs typeface="Calibri" pitchFamily="34" charset="-120"/>
              </a:rPr>
              <a:t>Industry-level work done on student time.</a:t>
            </a:r>
            <a:endParaRPr lang="en-US" sz="1400" dirty="0"/>
          </a:p>
        </p:txBody>
      </p:sp>
      <p:sp>
        <p:nvSpPr>
          <p:cNvPr id="6" name="Shape 3"/>
          <p:cNvSpPr/>
          <p:nvPr/>
        </p:nvSpPr>
        <p:spPr>
          <a:xfrm>
            <a:off x="3200400" y="3566160"/>
            <a:ext cx="2743200" cy="18288"/>
          </a:xfrm>
          <a:prstGeom prst="rect">
            <a:avLst/>
          </a:prstGeom>
          <a:solidFill>
            <a:srgbClr val="00D4AA">
              <a:alpha val="50000"/>
            </a:srgbClr>
          </a:solidFill>
          <a:ln/>
        </p:spPr>
      </p:sp>
      <p:sp>
        <p:nvSpPr>
          <p:cNvPr id="7" name="Text 4"/>
          <p:cNvSpPr/>
          <p:nvPr/>
        </p:nvSpPr>
        <p:spPr>
          <a:xfrm>
            <a:off x="914400" y="3794760"/>
            <a:ext cx="7315200" cy="320040"/>
          </a:xfrm>
          <a:prstGeom prst="rect">
            <a:avLst/>
          </a:prstGeom>
          <a:noFill/>
          <a:ln/>
        </p:spPr>
        <p:txBody>
          <a:bodyPr wrap="square" rtlCol="0" anchor="ctr"/>
          <a:lstStyle/>
          <a:p>
            <a:pPr algn="ctr" indent="0" marL="0">
              <a:buNone/>
            </a:pPr>
            <a:r>
              <a:rPr lang="en-US" sz="1300" dirty="0">
                <a:solidFill>
                  <a:srgbClr val="C8D6E5"/>
                </a:solidFill>
                <a:latin typeface="Calibri" pitchFamily="34" charset="0"/>
                <a:ea typeface="Calibri" pitchFamily="34" charset="-122"/>
                <a:cs typeface="Calibri" pitchFamily="34" charset="-120"/>
              </a:rPr>
              <a:t>agricultureintech.net  |  packetpursuit.net</a:t>
            </a:r>
            <a:endParaRPr lang="en-US" sz="1300" dirty="0"/>
          </a:p>
        </p:txBody>
      </p:sp>
      <p:sp>
        <p:nvSpPr>
          <p:cNvPr id="8" name="Text 5"/>
          <p:cNvSpPr/>
          <p:nvPr/>
        </p:nvSpPr>
        <p:spPr>
          <a:xfrm>
            <a:off x="914400" y="4251960"/>
            <a:ext cx="7315200" cy="320040"/>
          </a:xfrm>
          <a:prstGeom prst="rect">
            <a:avLst/>
          </a:prstGeom>
          <a:noFill/>
          <a:ln/>
        </p:spPr>
        <p:txBody>
          <a:bodyPr wrap="square"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Pima Community College  —  Cybersecurity Capstone</a:t>
            </a:r>
            <a:endParaRPr lang="en-US" sz="1200" dirty="0"/>
          </a:p>
        </p:txBody>
      </p:sp>
      <p:sp>
        <p:nvSpPr>
          <p:cNvPr id="9" name="Shape 6"/>
          <p:cNvSpPr/>
          <p:nvPr/>
        </p:nvSpPr>
        <p:spPr>
          <a:xfrm>
            <a:off x="0" y="5106924"/>
            <a:ext cx="9144000" cy="36576"/>
          </a:xfrm>
          <a:prstGeom prst="rect">
            <a:avLst/>
          </a:prstGeom>
          <a:solidFill>
            <a:srgbClr val="00D4AA"/>
          </a:solidFill>
          <a:ln/>
        </p:spPr>
      </p:sp>
      <p:sp>
        <p:nvSpPr>
          <p:cNvPr id="10"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Honeynet Capstone Project — agricultureintech.net</dc:title>
  <dc:subject>PptxGenJS Presentation</dc:subject>
  <dc:creator>Pima Community College Cybersecurity Capstone Team</dc:creator>
  <cp:lastModifiedBy>Pima Community College Cybersecurity Capstone Team</cp:lastModifiedBy>
  <cp:revision>1</cp:revision>
  <dcterms:created xsi:type="dcterms:W3CDTF">2026-04-06T20:49:35Z</dcterms:created>
  <dcterms:modified xsi:type="dcterms:W3CDTF">2026-04-06T20:49:35Z</dcterms:modified>
</cp:coreProperties>
</file>